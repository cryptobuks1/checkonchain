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1" r:id="rId3"/>
    <p:sldId id="284" r:id="rId4"/>
    <p:sldId id="285" r:id="rId5"/>
    <p:sldId id="286" r:id="rId6"/>
    <p:sldId id="288" r:id="rId7"/>
    <p:sldId id="287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1414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255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8FD42-8B02-43D2-BAAC-14B82E7BA9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376E1F-E947-47B1-AA6E-9AB0BFDD1F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344D5-4C05-4DBF-8720-A8FE443FF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AC31B-84D8-4A81-B175-0CC11868402F}" type="datetimeFigureOut">
              <a:rPr lang="en-US" smtClean="0"/>
              <a:t>3/29/2020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AC59C2-9D4A-42D7-A660-005B297B1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238B50-C581-4CC3-9C91-0C6049E6A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D151D-27C1-4407-902F-D2B576C4F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199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7CF41-74C0-4686-BF9F-C2A817864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B5A6B-2C78-4A1A-A429-40DB1025F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329A68-C455-47A1-99C8-B46A61CE6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AC31B-84D8-4A81-B175-0CC11868402F}" type="datetimeFigureOut">
              <a:rPr lang="en-US" smtClean="0"/>
              <a:t>3/29/2020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DCAABE-FB60-4577-8248-2CD9F5C52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7F62B5-9D60-42DA-832C-947D3668D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D151D-27C1-4407-902F-D2B576C4F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147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A1407-68D7-47AD-8F01-5D8357502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4A83CA-5965-4C5F-8DCB-C60E894D5E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6BB39-DC63-4C49-B565-DD67D5557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AC31B-84D8-4A81-B175-0CC11868402F}" type="datetimeFigureOut">
              <a:rPr lang="en-US" smtClean="0"/>
              <a:t>3/29/2020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14834-E5DD-4384-A22C-9CCB13338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C7C70-FC63-46B5-9DA6-C210F4C80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D151D-27C1-4407-902F-D2B576C4F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175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BB4D0-BB88-49B3-941E-0F1465375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66978-0D9C-420F-A87D-4C11B79534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CF49D4-363D-4182-9271-962589100D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4BD495-5438-4797-91FA-B8EAA3014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AC31B-84D8-4A81-B175-0CC11868402F}" type="datetimeFigureOut">
              <a:rPr lang="en-US" smtClean="0"/>
              <a:t>3/29/2020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77B55E-8418-432F-87C5-DB607921F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D9CCDC-E240-47CC-9C42-BFD613E28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D151D-27C1-4407-902F-D2B576C4F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456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BB1E6-ED01-4C2E-B43D-89ED2FA50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C8A283-322D-4E57-A345-C012F5333C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2C1FA9-5994-4FF1-A12B-388FF8D262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A89941-3E34-4A7B-97D0-0D8FCAB923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9C96BE-F04E-4A3C-8B1A-CBD17DB9C9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013962-0D7E-45AF-A18C-85D6C4ED0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AC31B-84D8-4A81-B175-0CC11868402F}" type="datetimeFigureOut">
              <a:rPr lang="en-US" smtClean="0"/>
              <a:t>3/29/2020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0D3238-4A21-4397-92E5-6F756A7A8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08D20D-2953-427D-9FAC-8B3497C10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D151D-27C1-4407-902F-D2B576C4F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131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BECC4-75C2-4EFE-845A-BE2BF59F7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AC3F8A-1092-4444-B84A-8EA14EE08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AC31B-84D8-4A81-B175-0CC11868402F}" type="datetimeFigureOut">
              <a:rPr lang="en-US" smtClean="0"/>
              <a:t>3/29/2020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B33647-A6A7-4441-BD77-DE507966F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42CF1A-CDEB-475A-ABBF-4EB6FCE51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D151D-27C1-4407-902F-D2B576C4F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550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DE9F24-7B6F-4335-BD72-07A4D071A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AC31B-84D8-4A81-B175-0CC11868402F}" type="datetimeFigureOut">
              <a:rPr lang="en-US" smtClean="0"/>
              <a:t>3/29/2020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6C82ED-BF70-432A-8B6E-654BD477B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CE6F4D-6CF2-4BD7-93A8-A598BBAD2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D151D-27C1-4407-902F-D2B576C4F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79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9D255-4408-4FD0-A305-FACA452CC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9CD47-E44F-49ED-9B70-29010B4CE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C245E2-7169-4B4F-8EFF-331E5A57BD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5DFEDA-FA9C-4ECF-A5C5-703CFA609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AC31B-84D8-4A81-B175-0CC11868402F}" type="datetimeFigureOut">
              <a:rPr lang="en-US" smtClean="0"/>
              <a:t>3/29/2020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341E8E-930A-4CCE-8D2B-5BCCFF273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A35A2-537C-4407-AF11-F6949FBAA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D151D-27C1-4407-902F-D2B576C4F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174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D499F-0529-47A8-90A3-266C57512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E34370-D63E-46FD-BD1C-F66EDB8BAE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E82FD3-D966-442E-AF3D-62F6B68CCC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C88653-DCC5-48FC-BF04-A7ECA71E1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AC31B-84D8-4A81-B175-0CC11868402F}" type="datetimeFigureOut">
              <a:rPr lang="en-US" smtClean="0"/>
              <a:t>3/29/2020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8BC074-394A-4D84-B5E7-C8281B194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B1E83A-4258-4163-B6DA-B7E55A882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D151D-27C1-4407-902F-D2B576C4F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485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A37AC-6856-4D8D-B5F4-0C8C2781D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321A45-ADE0-43E1-A5B8-794292312B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36E5D3-72DC-4AFF-99F0-37187254F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AC31B-84D8-4A81-B175-0CC11868402F}" type="datetimeFigureOut">
              <a:rPr lang="en-US" smtClean="0"/>
              <a:t>3/29/2020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B30C7-AFBC-49C1-BBE6-9663C1579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C04E2C-AB76-49D9-B472-37BE5A138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D151D-27C1-4407-902F-D2B576C4F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041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B9DE40-8436-4DC4-9CB8-720EF38A7E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A965D3-460D-4927-915A-86E8A8564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614852-4AAA-466A-88C8-36B10D8A3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AC31B-84D8-4A81-B175-0CC11868402F}" type="datetimeFigureOut">
              <a:rPr lang="en-US" smtClean="0"/>
              <a:t>3/29/2020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A86139-7BA1-454F-B0BD-4080ADF93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05BA3-2502-48D2-923A-34C784175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D151D-27C1-4407-902F-D2B576C4F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411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5E1256-4783-4D20-A3CD-BD20D0519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9F696-F46C-47C4-ADE8-C5AEC2819A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FAA1A-F4AB-4A10-B3F8-CF728207AB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9AC31B-84D8-4A81-B175-0CC11868402F}" type="datetimeFigureOut">
              <a:rPr lang="en-US" smtClean="0"/>
              <a:t>3/29/2020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446250-E859-490B-9870-911D78C74D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1633C7-2C97-42DA-B694-B1BA76869D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ED151D-27C1-4407-902F-D2B576C4F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183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9F60E-0D4F-411A-AFB7-37932B3A70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Decred</a:t>
            </a:r>
            <a:r>
              <a:rPr lang="en-US" dirty="0"/>
              <a:t> On-Chain Indicators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88A817-FF75-4706-833A-496DDA4770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Format for indicator presentation:</a:t>
            </a:r>
          </a:p>
          <a:p>
            <a:pPr marL="457200" indent="-457200">
              <a:buAutoNum type="arabicParenBoth"/>
            </a:pPr>
            <a:r>
              <a:rPr lang="en-US" dirty="0"/>
              <a:t>Chart / Indicator Name</a:t>
            </a:r>
          </a:p>
          <a:p>
            <a:pPr marL="457200" indent="-457200">
              <a:buAutoNum type="arabicParenBoth"/>
            </a:pPr>
            <a:r>
              <a:rPr lang="en-US" dirty="0"/>
              <a:t>Calculation for Indicator</a:t>
            </a:r>
          </a:p>
        </p:txBody>
      </p:sp>
    </p:spTree>
    <p:extLst>
      <p:ext uri="{BB962C8B-B14F-4D97-AF65-F5344CB8AC3E}">
        <p14:creationId xmlns:p14="http://schemas.microsoft.com/office/powerpoint/2010/main" val="3892336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B1C5E-DA01-44C4-A1C0-1B6BE9648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Primitives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F8D4AB-2FD3-4187-898F-ED0CE4EC53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𝑅𝑒𝑎𝑙𝑖𝑠𝑒𝑑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𝐶𝑎𝑝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𝑈𝑇𝑋𝑂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𝑈𝑛𝑠𝑝𝑒𝑛𝑡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∗ 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𝑃𝑟𝑖𝑐𝑒𝑈𝑆𝐷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𝑈𝑇𝑋𝑂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𝑅𝑒𝑎𝑙𝑖𝑠𝑒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𝑃𝑟𝑖𝑐𝑒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𝑅𝑒𝑎𝑙𝑖𝑠𝑒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𝐶𝑎𝑝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𝐷𝐶𝑅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𝑆𝑢𝑝𝑝𝑙𝑦</m:t>
                          </m:r>
                        </m:den>
                      </m:f>
                    </m:oMath>
                  </m:oMathPara>
                </a14:m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r>
                  <a:rPr lang="en-AU" dirty="0"/>
                  <a:t>Realised Cap and Realised Price to be calculated for every block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F8D4AB-2FD3-4187-898F-ED0CE4EC53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9345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E7EA70-0D05-470B-8833-77C47AFF5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0</a:t>
            </a:r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: MVRV Ratio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9B49CE-9FD6-4653-A799-B5650065D9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0688"/>
            <a:ext cx="12192000" cy="4831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26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B4DFD-D861-4B57-ABD3-973777B1E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0: MVRV Ratio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3B6D29-B5D1-4A2C-8E85-F0FA422A5F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CALCULATION: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𝑀𝑎𝑟𝑘𝑒𝑡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𝐶𝑎𝑝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𝑈𝑆𝐷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𝐷𝐶𝑅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𝑆𝑢𝑝𝑝𝑙𝑦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𝑃𝑟𝑖𝑐𝑒𝑈𝑆𝐷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𝑅𝑒𝑎𝑙𝑖𝑠𝑒𝑑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𝐶𝑎𝑝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𝑈𝑆𝐷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𝑈𝑇𝑋𝑂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𝑈𝑛𝑠𝑝𝑒𝑛𝑡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∗ 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𝑃𝑟𝑖𝑐𝑒𝑈𝑆𝐷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𝑈𝑇𝑋𝑂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𝑀𝑉𝑅𝑉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𝑅𝑎𝑡𝑖𝑜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𝑀𝑎𝑟𝑘𝑒𝑡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𝐶𝑎𝑝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𝑅𝑒𝑎𝑙𝑖𝑠𝑒𝑑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𝐶𝑎𝑝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𝑈𝑆𝐷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3B6D29-B5D1-4A2C-8E85-F0FA422A5F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12754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E7EA70-0D05-470B-8833-77C47AFF5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0b</a:t>
            </a:r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: Block Subsidy Model (USD)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DE3152-129C-4784-837E-E05737CA8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00220"/>
            <a:ext cx="12192000" cy="480602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C5E746D-2A14-4744-8094-D1B04034E157}"/>
              </a:ext>
            </a:extLst>
          </p:cNvPr>
          <p:cNvSpPr/>
          <p:nvPr/>
        </p:nvSpPr>
        <p:spPr>
          <a:xfrm>
            <a:off x="3178628" y="1471749"/>
            <a:ext cx="5024846" cy="444137"/>
          </a:xfrm>
          <a:prstGeom prst="rect">
            <a:avLst/>
          </a:prstGeom>
          <a:solidFill>
            <a:srgbClr val="141414"/>
          </a:solidFill>
          <a:ln>
            <a:solidFill>
              <a:srgbClr val="1414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8122FB-5CBC-4C59-9DE2-DBA863E6C749}"/>
              </a:ext>
            </a:extLst>
          </p:cNvPr>
          <p:cNvSpPr/>
          <p:nvPr/>
        </p:nvSpPr>
        <p:spPr>
          <a:xfrm>
            <a:off x="10826386" y="3581400"/>
            <a:ext cx="1249679" cy="164684"/>
          </a:xfrm>
          <a:prstGeom prst="rect">
            <a:avLst/>
          </a:prstGeom>
          <a:solidFill>
            <a:srgbClr val="141414"/>
          </a:solidFill>
          <a:ln>
            <a:solidFill>
              <a:srgbClr val="1414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4990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918EA5-0004-445D-A577-0DCF47484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49120"/>
            <a:ext cx="12192000" cy="477777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E7EA70-0D05-470B-8833-77C47AFF5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0b</a:t>
            </a:r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: Block Subsidy Model (BTC)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5E746D-2A14-4744-8094-D1B04034E157}"/>
              </a:ext>
            </a:extLst>
          </p:cNvPr>
          <p:cNvSpPr/>
          <p:nvPr/>
        </p:nvSpPr>
        <p:spPr>
          <a:xfrm>
            <a:off x="3169919" y="1396588"/>
            <a:ext cx="5024846" cy="444137"/>
          </a:xfrm>
          <a:prstGeom prst="rect">
            <a:avLst/>
          </a:prstGeom>
          <a:solidFill>
            <a:srgbClr val="141414"/>
          </a:solidFill>
          <a:ln>
            <a:solidFill>
              <a:srgbClr val="1414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CB2C16-0010-4BFC-ADBF-B63CF4C76E64}"/>
              </a:ext>
            </a:extLst>
          </p:cNvPr>
          <p:cNvSpPr/>
          <p:nvPr/>
        </p:nvSpPr>
        <p:spPr>
          <a:xfrm>
            <a:off x="10807336" y="3411582"/>
            <a:ext cx="1249679" cy="209006"/>
          </a:xfrm>
          <a:prstGeom prst="rect">
            <a:avLst/>
          </a:prstGeom>
          <a:solidFill>
            <a:srgbClr val="141414"/>
          </a:solidFill>
          <a:ln>
            <a:solidFill>
              <a:srgbClr val="1414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1267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B4DFD-D861-4B57-ABD3-973777B1E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0: MVRV Ratio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3B6D29-B5D1-4A2C-8E85-F0FA422A5F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CALCULATION: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𝑀𝑎𝑟𝑘𝑒𝑡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𝐶𝑎𝑝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𝐷𝐶𝑅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𝑆𝑢𝑝𝑝𝑙𝑦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𝑃𝑟𝑖𝑐𝑒𝑈𝑆𝐷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𝑅𝑒𝑎𝑙𝑖𝑠𝑒𝑑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𝐶𝑎𝑝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𝑈𝑇𝑋𝑂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𝑈𝑛𝑠𝑝𝑒𝑛𝑡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∗ 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𝑃𝑟𝑖𝑐𝑒𝑈𝑆𝐷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𝑈𝑇𝑋𝑂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𝑀𝑉𝑅𝑉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𝑅𝑎𝑡𝑖𝑜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𝑎𝑟𝑘𝑒𝑡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𝐶𝑎𝑝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𝑅𝑒𝑎𝑙𝑖𝑠𝑒𝑑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𝐶𝑎𝑝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3B6D29-B5D1-4A2C-8E85-F0FA422A5F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3435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E7EA70-0D05-470B-8833-77C47AFF5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1: ON-CHAIN DCRBTC PRICE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10E22C-6E08-49CF-AA9D-DBEFAFA1A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596" y="1675227"/>
            <a:ext cx="9604808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039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B4DFD-D861-4B57-ABD3-973777B1E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1: ON-CHAIN DCRBTC PRICE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B6D29-B5D1-4A2C-8E85-F0FA422A5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CALCULATION: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5400" u="sng" dirty="0">
                <a:solidFill>
                  <a:srgbClr val="FF0000"/>
                </a:solidFill>
              </a:rPr>
              <a:t>DCRUSD REALIZED PRICE</a:t>
            </a:r>
          </a:p>
          <a:p>
            <a:pPr marL="0" indent="0" algn="ctr">
              <a:buNone/>
            </a:pPr>
            <a:r>
              <a:rPr lang="en-US" sz="5400" dirty="0">
                <a:solidFill>
                  <a:srgbClr val="0070C0"/>
                </a:solidFill>
              </a:rPr>
              <a:t>BTCUSD REALIZED PRICE</a:t>
            </a:r>
          </a:p>
        </p:txBody>
      </p:sp>
    </p:spTree>
    <p:extLst>
      <p:ext uri="{BB962C8B-B14F-4D97-AF65-F5344CB8AC3E}">
        <p14:creationId xmlns:p14="http://schemas.microsoft.com/office/powerpoint/2010/main" val="1819320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91A356-35C9-4E9F-93B7-D27064186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2: 142 DAY HODLER CONVERSION RATE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58D0D8-1103-4B5E-B7C9-8194956617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809" y="1675227"/>
            <a:ext cx="10462381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9049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767B3-0EFE-4EA7-8BCC-15F429EDC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2: 142 DAY HODLER CONVERSION RATE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39FCD38-0DA9-47D7-99BE-4D37183D1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0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CALCULATION: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D27B4B-392D-4B50-B0C6-59829D81F7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88487"/>
            <a:ext cx="12192000" cy="6810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2184048-0833-4AB9-A62E-2BECD223BF46}"/>
              </a:ext>
            </a:extLst>
          </p:cNvPr>
          <p:cNvSpPr txBox="1"/>
          <p:nvPr/>
        </p:nvSpPr>
        <p:spPr>
          <a:xfrm>
            <a:off x="744717" y="4025246"/>
            <a:ext cx="11217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 “TOTAL SUM OF DCR MOVED OVER 142 DAYS” ON COINMETRICS = </a:t>
            </a:r>
            <a:r>
              <a:rPr lang="en-US" b="1" dirty="0" err="1">
                <a:solidFill>
                  <a:srgbClr val="00B050"/>
                </a:solidFill>
              </a:rPr>
              <a:t>TxTfrValNtv</a:t>
            </a:r>
            <a:endParaRPr lang="en-US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37242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61AC0-9D39-46E8-9F78-673B3BFED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3: OVER / UNDER BOUGHT TICKET MEASURE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B1C71E-E4AF-4722-9393-0583C98EC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059" y="1675227"/>
            <a:ext cx="10043881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259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DFBA8-D53C-45AC-9D9F-4CFB62752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3: OVER / UNDER BOUGHT TICKET MEASURE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1E31D-D931-4763-88A3-14C80FF680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CALCULATION: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5400" u="sng" dirty="0">
                <a:solidFill>
                  <a:srgbClr val="FF0000"/>
                </a:solidFill>
              </a:rPr>
              <a:t>DCR SUM IN TICKETS OVER 28 DAYS</a:t>
            </a:r>
          </a:p>
          <a:p>
            <a:pPr marL="0" indent="0" algn="ctr">
              <a:buNone/>
            </a:pPr>
            <a:r>
              <a:rPr lang="en-US" sz="5400" dirty="0">
                <a:solidFill>
                  <a:srgbClr val="0070C0"/>
                </a:solidFill>
              </a:rPr>
              <a:t>DCR SUM IN TICKETS OVER 142 DAYS</a:t>
            </a:r>
          </a:p>
        </p:txBody>
      </p:sp>
    </p:spTree>
    <p:extLst>
      <p:ext uri="{BB962C8B-B14F-4D97-AF65-F5344CB8AC3E}">
        <p14:creationId xmlns:p14="http://schemas.microsoft.com/office/powerpoint/2010/main" val="40216645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61AC0-9D39-46E8-9F78-673B3BFED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4: TRANSACTIONAL VOLATILITY RATIO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62A957-D4FA-460D-9886-5746B40FC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427" y="1675227"/>
            <a:ext cx="9107146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0161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04666-7826-4856-BD93-B93789816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4: TRANSACTIONAL VOLATILITY RATIO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133D0-4905-4A19-95E2-F5A312BD6E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CALCULATION: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b="1" u="sng" dirty="0">
                <a:solidFill>
                  <a:srgbClr val="FF0000"/>
                </a:solidFill>
              </a:rPr>
              <a:t>SUM OF DCR MOVED IN STANDARD TXS OVER 28 DAYS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0070C0"/>
                </a:solidFill>
              </a:rPr>
              <a:t>SUM OF DCR MOVED IN STANDARD TXS OVER 142 DAYS</a:t>
            </a:r>
          </a:p>
          <a:p>
            <a:pPr marL="0" indent="0" algn="ctr">
              <a:buNone/>
            </a:pPr>
            <a:endParaRPr lang="en-US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dirty="0"/>
              <a:t>NOTE: “SUM OF DCR MOVED” ON COINMETRICS = </a:t>
            </a:r>
            <a:r>
              <a:rPr lang="en-US" b="1" dirty="0" err="1">
                <a:solidFill>
                  <a:srgbClr val="00B050"/>
                </a:solidFill>
              </a:rPr>
              <a:t>TxTfrValAdjNtv</a:t>
            </a:r>
            <a:endParaRPr lang="en-US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68712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3F5203-EDFF-45D4-8926-E20C2F7E6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5: ON-CHAIN THROUGHPUT THERMOMETER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876EFA-CB75-42F6-82EE-9C2945509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0883" y="1675227"/>
            <a:ext cx="8330233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8253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AAD54-B87E-46B6-B6A5-F7D42DE6F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5: ON-CHAIN THROUGHPUT THERMOMETER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67415-FE8B-4B11-A599-EA70690F3B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CALCULATION: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NOTE: COINS MOVED ON COINMETRICS = </a:t>
            </a:r>
            <a:r>
              <a:rPr lang="en-US" b="1" dirty="0" err="1">
                <a:solidFill>
                  <a:srgbClr val="00B050"/>
                </a:solidFill>
              </a:rPr>
              <a:t>TxTfrValAdjNtv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C0A492-FBE3-4F36-BE65-2C4D5C55B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" y="3363446"/>
            <a:ext cx="12192000" cy="855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3413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3F5203-EDFF-45D4-8926-E20C2F7E6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6</a:t>
            </a:r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: 142-DAY TIX VOL SUM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FCD4FF-64A8-495F-A310-416D5C0DCA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728" y="1696825"/>
            <a:ext cx="9605913" cy="4743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882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70032-957E-4ACE-99E6-D649861BF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6: 142-DAY TIX VOL SUM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651A2-8B53-490A-9E58-441C773EBE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CALCULATION: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RED LINE = 142-DAY SUM OF USD VALUE TICKET VOLUME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GREEN LINE = 25% OF RED LINE</a:t>
            </a:r>
          </a:p>
        </p:txBody>
      </p:sp>
    </p:spTree>
    <p:extLst>
      <p:ext uri="{BB962C8B-B14F-4D97-AF65-F5344CB8AC3E}">
        <p14:creationId xmlns:p14="http://schemas.microsoft.com/office/powerpoint/2010/main" val="14026874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3F5203-EDFF-45D4-8926-E20C2F7E6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7</a:t>
            </a:r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: MAX VOL RATIO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04ED6E-CA9F-4E56-B5B8-09D16B3A0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054" y="1675227"/>
            <a:ext cx="9449892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7601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ED7DB-1338-4329-A866-EDA4B8A78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7: MAX VOL RATIO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96956-18B8-4F76-BDAF-DEA7841DC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CALCULATION: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3200" b="1" u="sng" dirty="0">
                <a:solidFill>
                  <a:srgbClr val="FF0000"/>
                </a:solidFill>
              </a:rPr>
              <a:t>MARKET CAP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0070C0"/>
                </a:solidFill>
              </a:rPr>
              <a:t>(MAX 288 BLOCK USD SUM IN TIX OVER PAST 28 DAYS) * 28</a:t>
            </a:r>
          </a:p>
        </p:txBody>
      </p:sp>
    </p:spTree>
    <p:extLst>
      <p:ext uri="{BB962C8B-B14F-4D97-AF65-F5344CB8AC3E}">
        <p14:creationId xmlns:p14="http://schemas.microsoft.com/office/powerpoint/2010/main" val="23298695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3F5203-EDFF-45D4-8926-E20C2F7E6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8</a:t>
            </a:r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: 142-DAY MOVED SUM ADJUSTED FOR SUPPLY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5368F8-F6BF-416A-B04B-3230050AA7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4197" y="1675227"/>
            <a:ext cx="7203606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1281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ED7DB-1338-4329-A866-EDA4B8A78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8: 142-DAY SUM MOVED ADJUSTED FOR SUPPLY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96956-18B8-4F76-BDAF-DEA7841DC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CALCULATION: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3200" b="1" u="sng" dirty="0">
                <a:solidFill>
                  <a:srgbClr val="FF0000"/>
                </a:solidFill>
              </a:rPr>
              <a:t>SUM OF DCR MOVED OVER PAST 142 DAYS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0070C0"/>
                </a:solidFill>
              </a:rPr>
              <a:t>CURRENT SUPPLY</a:t>
            </a:r>
          </a:p>
          <a:p>
            <a:pPr marL="0" indent="0" algn="ctr">
              <a:buNone/>
            </a:pPr>
            <a:endParaRPr lang="en-US" sz="32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3200" dirty="0"/>
              <a:t>NOTE: COINS MOVED ON COINMETRICS = </a:t>
            </a:r>
            <a:r>
              <a:rPr lang="en-US" sz="3200" b="1" dirty="0" err="1">
                <a:solidFill>
                  <a:srgbClr val="00B050"/>
                </a:solidFill>
              </a:rPr>
              <a:t>TxTfrValAdjNtv</a:t>
            </a:r>
            <a:endParaRPr lang="en-US" sz="3200" dirty="0"/>
          </a:p>
          <a:p>
            <a:pPr marL="0" indent="0">
              <a:buNone/>
            </a:pPr>
            <a:endParaRPr lang="en-US" sz="32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03660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3F5203-EDFF-45D4-8926-E20C2F7E6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9: SHORT TERM RELATIVE SELLING POWER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074F2B-DC5B-467E-86E4-82AAF72E35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354" y="1675227"/>
            <a:ext cx="10339292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5690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ED7DB-1338-4329-A866-EDA4B8A78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9: SHORT TERM RELATIVE SELLING POWER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96956-18B8-4F76-BDAF-DEA7841DC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CALCULATION: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3200" b="1" u="sng" dirty="0">
                <a:solidFill>
                  <a:srgbClr val="FF0000"/>
                </a:solidFill>
              </a:rPr>
              <a:t>USD BLOCK REWARDS ISSUED IN 144 BLOCK PERIOD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0070C0"/>
                </a:solidFill>
              </a:rPr>
              <a:t>SUM OF USD BLOCK REWARDS ISSUED OVER 365 DAYS</a:t>
            </a:r>
          </a:p>
          <a:p>
            <a:pPr marL="0" indent="0" algn="ctr">
              <a:buNone/>
            </a:pPr>
            <a:endParaRPr lang="en-US" sz="32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32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56752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3F5203-EDFF-45D4-8926-E20C2F7E6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10</a:t>
            </a:r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: LONG TERM RELATIVE SELLING POWER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632DE3-F08C-4310-9A9C-A2E675E658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677682"/>
            <a:ext cx="10905066" cy="4389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4244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ED7DB-1338-4329-A866-EDA4B8A78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10: LONG TERM RELATIVE SELLING POWER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96956-18B8-4F76-BDAF-DEA7841DC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CALCULATION: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3200" b="1" u="sng" dirty="0">
                <a:solidFill>
                  <a:srgbClr val="FF0000"/>
                </a:solidFill>
              </a:rPr>
              <a:t>USD BLOCK REWARDS ISSUED IN 144 BLOCK PERIOD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0070C0"/>
                </a:solidFill>
              </a:rPr>
              <a:t>SUM OF USD BLOCK REWARDS ISSUED OVER LIFETIME</a:t>
            </a:r>
          </a:p>
          <a:p>
            <a:pPr marL="0" indent="0" algn="ctr">
              <a:buNone/>
            </a:pPr>
            <a:endParaRPr lang="en-US" sz="32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32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63460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3F5203-EDFF-45D4-8926-E20C2F7E6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11</a:t>
            </a:r>
            <a:r>
              <a:rPr lang="en-US" sz="3200" b="1" kern="12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A</a:t>
            </a:r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: TICKET ROI Z-SCORE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826BB0-352B-46CA-BE73-1250EFF87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691313"/>
            <a:ext cx="10905066" cy="4362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3732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3F5203-EDFF-45D4-8926-E20C2F7E6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11</a:t>
            </a:r>
            <a:r>
              <a:rPr lang="en-US" sz="3200" b="1" kern="1200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B</a:t>
            </a:r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: TICKET ROI Z-SCORE (14 DAY SUM)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1BDAF0-025C-4054-BFD5-9DCFFCCF14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785" y="1675227"/>
            <a:ext cx="10588429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8669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ED7DB-1338-4329-A866-EDA4B8A78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11</a:t>
            </a:r>
            <a:r>
              <a:rPr lang="en-US" dirty="0">
                <a:solidFill>
                  <a:srgbClr val="FF0000"/>
                </a:solidFill>
              </a:rPr>
              <a:t>A</a:t>
            </a:r>
            <a:r>
              <a:rPr lang="en-US" dirty="0"/>
              <a:t>: TICKET ROI Z-SCORE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96956-18B8-4F76-BDAF-DEA7841DC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CALCULATION: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</a:rPr>
              <a:t>CURRENT ROI – 28 DAY ROI AVG = A</a:t>
            </a:r>
          </a:p>
          <a:p>
            <a:pPr marL="0" indent="0">
              <a:buNone/>
            </a:pPr>
            <a:r>
              <a:rPr lang="en-US" sz="3200" b="1" dirty="0">
                <a:solidFill>
                  <a:srgbClr val="0070C0"/>
                </a:solidFill>
              </a:rPr>
              <a:t>28 DAY AVERAGE(</a:t>
            </a:r>
            <a:r>
              <a:rPr lang="en-US" sz="3200" b="1" dirty="0">
                <a:solidFill>
                  <a:srgbClr val="FF0000"/>
                </a:solidFill>
              </a:rPr>
              <a:t>A</a:t>
            </a:r>
            <a:r>
              <a:rPr lang="en-US" sz="3200" b="1" dirty="0">
                <a:solidFill>
                  <a:srgbClr val="0070C0"/>
                </a:solidFill>
              </a:rPr>
              <a:t>) = B</a:t>
            </a:r>
          </a:p>
          <a:p>
            <a:pPr marL="0" indent="0">
              <a:buNone/>
            </a:pPr>
            <a:r>
              <a:rPr lang="en-US" sz="3200" b="1" dirty="0">
                <a:solidFill>
                  <a:srgbClr val="00B050"/>
                </a:solidFill>
              </a:rPr>
              <a:t>28 DAY STANDARD DEVIATION OF</a:t>
            </a:r>
            <a:r>
              <a:rPr lang="en-US" sz="3200" b="1" dirty="0">
                <a:solidFill>
                  <a:srgbClr val="0070C0"/>
                </a:solidFill>
              </a:rPr>
              <a:t> </a:t>
            </a:r>
            <a:r>
              <a:rPr lang="en-US" sz="3200" b="1" dirty="0">
                <a:solidFill>
                  <a:srgbClr val="FF0000"/>
                </a:solidFill>
              </a:rPr>
              <a:t>A</a:t>
            </a:r>
            <a:r>
              <a:rPr lang="en-US" sz="3200" b="1" dirty="0">
                <a:solidFill>
                  <a:srgbClr val="0070C0"/>
                </a:solidFill>
              </a:rPr>
              <a:t> </a:t>
            </a:r>
            <a:r>
              <a:rPr lang="en-US" sz="3200" b="1" dirty="0">
                <a:solidFill>
                  <a:srgbClr val="00B050"/>
                </a:solidFill>
              </a:rPr>
              <a:t>=</a:t>
            </a:r>
            <a:r>
              <a:rPr lang="en-US" sz="3200" b="1" dirty="0">
                <a:solidFill>
                  <a:srgbClr val="0070C0"/>
                </a:solidFill>
              </a:rPr>
              <a:t> </a:t>
            </a:r>
            <a:r>
              <a:rPr lang="en-US" sz="3200" b="1" dirty="0">
                <a:solidFill>
                  <a:srgbClr val="00B050"/>
                </a:solidFill>
              </a:rPr>
              <a:t>C</a:t>
            </a:r>
          </a:p>
          <a:p>
            <a:pPr marL="0" indent="0">
              <a:buNone/>
            </a:pPr>
            <a:endParaRPr lang="en-US" sz="3200" b="1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3200" b="1" u="sng" dirty="0">
                <a:solidFill>
                  <a:srgbClr val="FF0000"/>
                </a:solidFill>
              </a:rPr>
              <a:t>A – </a:t>
            </a:r>
            <a:r>
              <a:rPr lang="en-US" sz="3200" b="1" u="sng" dirty="0">
                <a:solidFill>
                  <a:srgbClr val="0070C0"/>
                </a:solidFill>
              </a:rPr>
              <a:t>B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00B050"/>
                </a:solidFill>
              </a:rPr>
              <a:t>C</a:t>
            </a:r>
          </a:p>
          <a:p>
            <a:pPr marL="0" indent="0" algn="ctr">
              <a:buNone/>
            </a:pPr>
            <a:endParaRPr lang="en-US" sz="32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3200" b="1" dirty="0">
              <a:solidFill>
                <a:srgbClr val="0070C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D5A92C-E36C-4625-891E-092207F4FAA5}"/>
              </a:ext>
            </a:extLst>
          </p:cNvPr>
          <p:cNvSpPr/>
          <p:nvPr/>
        </p:nvSpPr>
        <p:spPr>
          <a:xfrm>
            <a:off x="5318620" y="4605556"/>
            <a:ext cx="1661020" cy="1325563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B0AFED-3D60-4964-B1D0-3203B77AF546}"/>
              </a:ext>
            </a:extLst>
          </p:cNvPr>
          <p:cNvSpPr txBox="1"/>
          <p:nvPr/>
        </p:nvSpPr>
        <p:spPr>
          <a:xfrm>
            <a:off x="763398" y="4975949"/>
            <a:ext cx="45552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TICKET ROI Z-SCORE = D = </a:t>
            </a:r>
          </a:p>
        </p:txBody>
      </p:sp>
    </p:spTree>
    <p:extLst>
      <p:ext uri="{BB962C8B-B14F-4D97-AF65-F5344CB8AC3E}">
        <p14:creationId xmlns:p14="http://schemas.microsoft.com/office/powerpoint/2010/main" val="13998064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4B9D2-8602-42E6-849B-51288ECF5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11</a:t>
            </a:r>
            <a:r>
              <a:rPr lang="en-US" dirty="0">
                <a:solidFill>
                  <a:srgbClr val="0070C0"/>
                </a:solidFill>
              </a:rPr>
              <a:t>B</a:t>
            </a:r>
            <a:r>
              <a:rPr lang="en-US" dirty="0"/>
              <a:t>: TICKET ROI Z-SCORE (14 DAY SUM)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E97D7-925F-4417-9D08-11A5DC51E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CALCULATION: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FF9900"/>
                </a:solidFill>
              </a:rPr>
              <a:t>14-DAY SUM OF D FROM PREVIOUS SLIDE</a:t>
            </a:r>
          </a:p>
        </p:txBody>
      </p:sp>
    </p:spTree>
    <p:extLst>
      <p:ext uri="{BB962C8B-B14F-4D97-AF65-F5344CB8AC3E}">
        <p14:creationId xmlns:p14="http://schemas.microsoft.com/office/powerpoint/2010/main" val="12147917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484</Words>
  <Application>Microsoft Office PowerPoint</Application>
  <PresentationFormat>Widescreen</PresentationFormat>
  <Paragraphs>108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Calibri Light</vt:lpstr>
      <vt:lpstr>Cambria Math</vt:lpstr>
      <vt:lpstr>Office Theme</vt:lpstr>
      <vt:lpstr>Decred On-Chain Indicators</vt:lpstr>
      <vt:lpstr>Primitives</vt:lpstr>
      <vt:lpstr>0: MVRV Ratio</vt:lpstr>
      <vt:lpstr>0: MVRV Ratio</vt:lpstr>
      <vt:lpstr>0b: Block Subsidy Model (USD)</vt:lpstr>
      <vt:lpstr>0b: Block Subsidy Model (BTC)</vt:lpstr>
      <vt:lpstr>0: MVRV Ratio</vt:lpstr>
      <vt:lpstr>1: ON-CHAIN DCRBTC PRICE</vt:lpstr>
      <vt:lpstr>1: ON-CHAIN DCRBTC PRICE</vt:lpstr>
      <vt:lpstr>2: 142 DAY HODLER CONVERSION RATE</vt:lpstr>
      <vt:lpstr>2: 142 DAY HODLER CONVERSION RATE</vt:lpstr>
      <vt:lpstr>3: OVER / UNDER BOUGHT TICKET MEASURE</vt:lpstr>
      <vt:lpstr>3: OVER / UNDER BOUGHT TICKET MEASURE</vt:lpstr>
      <vt:lpstr>4: TRANSACTIONAL VOLATILITY RATIO</vt:lpstr>
      <vt:lpstr>4: TRANSACTIONAL VOLATILITY RATIO</vt:lpstr>
      <vt:lpstr>5: ON-CHAIN THROUGHPUT THERMOMETER</vt:lpstr>
      <vt:lpstr>5: ON-CHAIN THROUGHPUT THERMOMETER</vt:lpstr>
      <vt:lpstr>6: 142-DAY TIX VOL SUM</vt:lpstr>
      <vt:lpstr>6: 142-DAY TIX VOL SUM</vt:lpstr>
      <vt:lpstr>7: MAX VOL RATIO</vt:lpstr>
      <vt:lpstr>7: MAX VOL RATIO</vt:lpstr>
      <vt:lpstr>8: 142-DAY MOVED SUM ADJUSTED FOR SUPPLY</vt:lpstr>
      <vt:lpstr>8: 142-DAY SUM MOVED ADJUSTED FOR SUPPLY</vt:lpstr>
      <vt:lpstr>9: SHORT TERM RELATIVE SELLING POWER</vt:lpstr>
      <vt:lpstr>9: SHORT TERM RELATIVE SELLING POWER</vt:lpstr>
      <vt:lpstr>10: LONG TERM RELATIVE SELLING POWER</vt:lpstr>
      <vt:lpstr>10: LONG TERM RELATIVE SELLING POWER</vt:lpstr>
      <vt:lpstr>11A: TICKET ROI Z-SCORE</vt:lpstr>
      <vt:lpstr>11B: TICKET ROI Z-SCORE (14 DAY SUM)</vt:lpstr>
      <vt:lpstr>11A: TICKET ROI Z-SCORE</vt:lpstr>
      <vt:lpstr>11B: TICKET ROI Z-SCORE (14 DAY SUM)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Decred On-Chain Indicators</dc:title>
  <dc:creator>Jawdy</dc:creator>
  <cp:lastModifiedBy>James Care</cp:lastModifiedBy>
  <cp:revision>10</cp:revision>
  <dcterms:created xsi:type="dcterms:W3CDTF">2020-03-27T21:30:27Z</dcterms:created>
  <dcterms:modified xsi:type="dcterms:W3CDTF">2020-03-29T12:52:07Z</dcterms:modified>
</cp:coreProperties>
</file>