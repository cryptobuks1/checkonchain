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7"/>
  </p:notesMasterIdLst>
  <p:sldIdLst>
    <p:sldId id="594" r:id="rId2"/>
    <p:sldId id="580" r:id="rId3"/>
    <p:sldId id="578" r:id="rId4"/>
    <p:sldId id="583" r:id="rId5"/>
    <p:sldId id="582" r:id="rId6"/>
    <p:sldId id="593" r:id="rId7"/>
    <p:sldId id="584" r:id="rId8"/>
    <p:sldId id="585" r:id="rId9"/>
    <p:sldId id="586" r:id="rId10"/>
    <p:sldId id="587" r:id="rId11"/>
    <p:sldId id="588" r:id="rId12"/>
    <p:sldId id="589" r:id="rId13"/>
    <p:sldId id="590" r:id="rId14"/>
    <p:sldId id="591" r:id="rId15"/>
    <p:sldId id="59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Care" initials="JC" lastIdx="3" clrIdx="0">
    <p:extLst>
      <p:ext uri="{19B8F6BF-5375-455C-9EA6-DF929625EA0E}">
        <p15:presenceInfo xmlns:p15="http://schemas.microsoft.com/office/powerpoint/2012/main" userId="fffe85e3677984f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C848D"/>
    <a:srgbClr val="EBEBEC"/>
    <a:srgbClr val="091440"/>
    <a:srgbClr val="000000"/>
    <a:srgbClr val="C0CAF6"/>
    <a:srgbClr val="FB5F6A"/>
    <a:srgbClr val="FED78C"/>
    <a:srgbClr val="11FF7D"/>
    <a:srgbClr val="25FF88"/>
    <a:srgbClr val="71FF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89" autoAdjust="0"/>
    <p:restoredTop sz="94360" autoAdjust="0"/>
  </p:normalViewPr>
  <p:slideViewPr>
    <p:cSldViewPr snapToGrid="0">
      <p:cViewPr varScale="1">
        <p:scale>
          <a:sx n="86" d="100"/>
          <a:sy n="86" d="100"/>
        </p:scale>
        <p:origin x="619" y="-24"/>
      </p:cViewPr>
      <p:guideLst/>
    </p:cSldViewPr>
  </p:slideViewPr>
  <p:notesTextViewPr>
    <p:cViewPr>
      <p:scale>
        <a:sx n="1" d="1"/>
        <a:sy n="1" d="1"/>
      </p:scale>
      <p:origin x="0" y="0"/>
    </p:cViewPr>
  </p:notesTextViewPr>
  <p:notesViewPr>
    <p:cSldViewPr snapToGrid="0">
      <p:cViewPr varScale="1">
        <p:scale>
          <a:sx n="65" d="100"/>
          <a:sy n="65" d="100"/>
        </p:scale>
        <p:origin x="315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20" tIns="45711" rIns="91420" bIns="45711" rtlCol="0"/>
          <a:lstStyle>
            <a:lvl1pPr algn="l">
              <a:defRPr sz="1200"/>
            </a:lvl1pPr>
          </a:lstStyle>
          <a:p>
            <a:endParaRPr lang="en-AU"/>
          </a:p>
        </p:txBody>
      </p:sp>
      <p:sp>
        <p:nvSpPr>
          <p:cNvPr id="3" name="Date Placeholder 2"/>
          <p:cNvSpPr>
            <a:spLocks noGrp="1"/>
          </p:cNvSpPr>
          <p:nvPr>
            <p:ph type="dt" idx="1"/>
          </p:nvPr>
        </p:nvSpPr>
        <p:spPr>
          <a:xfrm>
            <a:off x="3884613" y="1"/>
            <a:ext cx="2971800" cy="458788"/>
          </a:xfrm>
          <a:prstGeom prst="rect">
            <a:avLst/>
          </a:prstGeom>
        </p:spPr>
        <p:txBody>
          <a:bodyPr vert="horz" lIns="91420" tIns="45711" rIns="91420" bIns="45711" rtlCol="0"/>
          <a:lstStyle>
            <a:lvl1pPr algn="r">
              <a:defRPr sz="1200"/>
            </a:lvl1pPr>
          </a:lstStyle>
          <a:p>
            <a:fld id="{0E14D5B3-C0ED-4E5B-BEFF-6A7BA239570E}" type="datetimeFigureOut">
              <a:rPr lang="en-AU" smtClean="0"/>
              <a:t>17-Apr-20</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20" tIns="45711" rIns="91420" bIns="45711" rtlCol="0" anchor="ctr"/>
          <a:lstStyle/>
          <a:p>
            <a:endParaRPr lang="en-AU"/>
          </a:p>
        </p:txBody>
      </p:sp>
      <p:sp>
        <p:nvSpPr>
          <p:cNvPr id="5" name="Notes Placeholder 4"/>
          <p:cNvSpPr>
            <a:spLocks noGrp="1"/>
          </p:cNvSpPr>
          <p:nvPr>
            <p:ph type="body" sz="quarter" idx="3"/>
          </p:nvPr>
        </p:nvSpPr>
        <p:spPr>
          <a:xfrm>
            <a:off x="685800" y="4400551"/>
            <a:ext cx="5486400" cy="3600450"/>
          </a:xfrm>
          <a:prstGeom prst="rect">
            <a:avLst/>
          </a:prstGeom>
        </p:spPr>
        <p:txBody>
          <a:bodyPr vert="horz" lIns="91420" tIns="45711" rIns="91420" bIns="4571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20" tIns="45711" rIns="91420" bIns="45711"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20" tIns="45711" rIns="91420" bIns="45711" rtlCol="0" anchor="b"/>
          <a:lstStyle>
            <a:lvl1pPr algn="r">
              <a:defRPr sz="1200"/>
            </a:lvl1pPr>
          </a:lstStyle>
          <a:p>
            <a:fld id="{27F7A1EC-DBBD-42DA-8054-F2D841D61462}" type="slidenum">
              <a:rPr lang="en-AU" smtClean="0"/>
              <a:t>‹#›</a:t>
            </a:fld>
            <a:endParaRPr lang="en-AU"/>
          </a:p>
        </p:txBody>
      </p:sp>
    </p:spTree>
    <p:extLst>
      <p:ext uri="{BB962C8B-B14F-4D97-AF65-F5344CB8AC3E}">
        <p14:creationId xmlns:p14="http://schemas.microsoft.com/office/powerpoint/2010/main" val="1757873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9144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8" name="Picture 7" descr="A picture containing drawing&#10;&#10;Description automatically generated">
            <a:extLst>
              <a:ext uri="{FF2B5EF4-FFF2-40B4-BE49-F238E27FC236}">
                <a16:creationId xmlns:a16="http://schemas.microsoft.com/office/drawing/2014/main" id="{3011B5D5-70AA-4155-B093-4B5074A802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9938376" y="4805643"/>
            <a:ext cx="3601989" cy="1093798"/>
          </a:xfrm>
          <a:prstGeom prst="rect">
            <a:avLst/>
          </a:prstGeom>
        </p:spPr>
      </p:pic>
    </p:spTree>
    <p:extLst>
      <p:ext uri="{BB962C8B-B14F-4D97-AF65-F5344CB8AC3E}">
        <p14:creationId xmlns:p14="http://schemas.microsoft.com/office/powerpoint/2010/main" val="420194610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9900" y="365760"/>
            <a:ext cx="10484612" cy="1325562"/>
          </a:xfrm>
        </p:spPr>
        <p:txBody>
          <a:bodyPr anchor="ctr"/>
          <a:lstStyle>
            <a:lvl1pPr>
              <a:defRPr>
                <a:solidFill>
                  <a:srgbClr val="192734"/>
                </a:solidFill>
              </a:defRPr>
            </a:lvl1pPr>
          </a:lstStyle>
          <a:p>
            <a:r>
              <a:rPr lang="en-US" dirty="0"/>
              <a:t>Click to edit Master title style</a:t>
            </a:r>
          </a:p>
        </p:txBody>
      </p:sp>
      <p:sp>
        <p:nvSpPr>
          <p:cNvPr id="3" name="Content Placeholder 2"/>
          <p:cNvSpPr>
            <a:spLocks noGrp="1"/>
          </p:cNvSpPr>
          <p:nvPr>
            <p:ph idx="1"/>
          </p:nvPr>
        </p:nvSpPr>
        <p:spPr>
          <a:xfrm>
            <a:off x="469900" y="1828800"/>
            <a:ext cx="10484612" cy="4351337"/>
          </a:xfrm>
        </p:spPr>
        <p:txBody>
          <a:bodyPr>
            <a:normAutofit/>
          </a:bodyPr>
          <a:lstStyle>
            <a:lvl1pPr marL="0" indent="0">
              <a:buNone/>
              <a:defRPr sz="2800">
                <a:solidFill>
                  <a:srgbClr val="192734"/>
                </a:solidFill>
              </a:defRPr>
            </a:lvl1pPr>
            <a:lvl2pPr marL="274320" indent="0">
              <a:buNone/>
              <a:defRPr sz="2400">
                <a:solidFill>
                  <a:srgbClr val="192734"/>
                </a:solidFill>
              </a:defRPr>
            </a:lvl2pPr>
            <a:lvl3pPr marL="548640" indent="0">
              <a:buNone/>
              <a:defRPr sz="2000">
                <a:solidFill>
                  <a:srgbClr val="192734"/>
                </a:solidFill>
              </a:defRPr>
            </a:lvl3pPr>
            <a:lvl4pPr marL="822960" indent="0">
              <a:buNone/>
              <a:defRPr sz="2000">
                <a:solidFill>
                  <a:srgbClr val="192734"/>
                </a:solidFill>
              </a:defRPr>
            </a:lvl4pPr>
            <a:lvl5pPr marL="1097280" indent="0">
              <a:buNone/>
              <a:defRPr sz="2000">
                <a:solidFill>
                  <a:srgbClr val="192734"/>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a:extLst>
              <a:ext uri="{FF2B5EF4-FFF2-40B4-BE49-F238E27FC236}">
                <a16:creationId xmlns:a16="http://schemas.microsoft.com/office/drawing/2014/main" id="{AC429F03-B673-4B3B-832E-9A4A48790E31}"/>
              </a:ext>
            </a:extLst>
          </p:cNvPr>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2509495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26033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4016819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2248587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322580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1703513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rot="16200000">
            <a:off x="10797542" y="998537"/>
            <a:ext cx="1904999" cy="365125"/>
          </a:xfrm>
          <a:prstGeom prst="rect">
            <a:avLst/>
          </a:prstGeom>
        </p:spPr>
        <p:txBody>
          <a:bodyPr/>
          <a:lstStyle/>
          <a:p>
            <a:fld id="{B897D379-7DB5-4F5B-A6CE-2518FE7EEDA5}" type="datetime1">
              <a:rPr lang="en-AU" smtClean="0"/>
              <a:t>17-Apr-20</a:t>
            </a:fld>
            <a:endParaRPr lang="en-AU"/>
          </a:p>
        </p:txBody>
      </p:sp>
      <p:sp>
        <p:nvSpPr>
          <p:cNvPr id="6" name="Footer Placeholder 5"/>
          <p:cNvSpPr>
            <a:spLocks noGrp="1"/>
          </p:cNvSpPr>
          <p:nvPr>
            <p:ph type="ftr" sz="quarter" idx="11"/>
          </p:nvPr>
        </p:nvSpPr>
        <p:spPr>
          <a:xfrm rot="16200000">
            <a:off x="9959341" y="4046537"/>
            <a:ext cx="3581400" cy="365125"/>
          </a:xfrm>
          <a:prstGeom prst="rect">
            <a:avLst/>
          </a:prstGeom>
        </p:spPr>
        <p:txBody>
          <a:bodyPr/>
          <a:lstStyle/>
          <a:p>
            <a:r>
              <a:rPr lang="en-AU" dirty="0"/>
              <a:t>READYSETCRYPTO</a:t>
            </a:r>
          </a:p>
        </p:txBody>
      </p:sp>
      <p:sp>
        <p:nvSpPr>
          <p:cNvPr id="7" name="Slide Number Placeholder 6"/>
          <p:cNvSpPr>
            <a:spLocks noGrp="1"/>
          </p:cNvSpPr>
          <p:nvPr>
            <p:ph type="sldNum" sz="quarter" idx="12"/>
          </p:nvPr>
        </p:nvSpPr>
        <p:spPr>
          <a:xfrm>
            <a:off x="11292840" y="6172200"/>
            <a:ext cx="914400" cy="593725"/>
          </a:xfrm>
          <a:prstGeom prst="rect">
            <a:avLst/>
          </a:prstGeom>
        </p:spPr>
        <p:txBody>
          <a:bodyPr/>
          <a:lstStyle/>
          <a:p>
            <a:fld id="{216EEF02-8C8F-4814-B572-C1273A6477A4}" type="slidenum">
              <a:rPr lang="en-AU" smtClean="0"/>
              <a:t>‹#›</a:t>
            </a:fld>
            <a:endParaRPr lang="en-AU"/>
          </a:p>
        </p:txBody>
      </p:sp>
    </p:spTree>
    <p:extLst>
      <p:ext uri="{BB962C8B-B14F-4D97-AF65-F5344CB8AC3E}">
        <p14:creationId xmlns:p14="http://schemas.microsoft.com/office/powerpoint/2010/main" val="2605091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picture containing drawing&#10;&#10;Description automatically generated">
            <a:extLst>
              <a:ext uri="{FF2B5EF4-FFF2-40B4-BE49-F238E27FC236}">
                <a16:creationId xmlns:a16="http://schemas.microsoft.com/office/drawing/2014/main" id="{7A5FBD10-19FD-49C6-B832-2DD3BCA26ED2}"/>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rot="16200000">
            <a:off x="9949046" y="4778530"/>
            <a:ext cx="3601989" cy="1093798"/>
          </a:xfrm>
          <a:prstGeom prst="rect">
            <a:avLst/>
          </a:prstGeom>
        </p:spPr>
      </p:pic>
      <p:sp>
        <p:nvSpPr>
          <p:cNvPr id="10" name="Slide Number Placeholder 5">
            <a:extLst>
              <a:ext uri="{FF2B5EF4-FFF2-40B4-BE49-F238E27FC236}">
                <a16:creationId xmlns:a16="http://schemas.microsoft.com/office/drawing/2014/main" id="{79C2A0A6-4E47-461A-8CB2-1285C1CACC1D}"/>
              </a:ext>
            </a:extLst>
          </p:cNvPr>
          <p:cNvSpPr>
            <a:spLocks noGrp="1"/>
          </p:cNvSpPr>
          <p:nvPr>
            <p:ph type="sldNum" sz="quarter" idx="4"/>
          </p:nvPr>
        </p:nvSpPr>
        <p:spPr>
          <a:xfrm>
            <a:off x="11277600" y="0"/>
            <a:ext cx="914400" cy="593725"/>
          </a:xfrm>
          <a:prstGeom prst="rect">
            <a:avLst/>
          </a:prstGeom>
        </p:spPr>
        <p:txBody>
          <a:bodyPr/>
          <a:lstStyle>
            <a:lvl1pPr>
              <a:defRPr>
                <a:solidFill>
                  <a:schemeClr val="bg1"/>
                </a:solidFill>
              </a:defRPr>
            </a:lvl1pPr>
          </a:lstStyle>
          <a:p>
            <a:fld id="{216EEF02-8C8F-4814-B572-C1273A6477A4}" type="slidenum">
              <a:rPr lang="en-AU" smtClean="0"/>
              <a:pPr/>
              <a:t>‹#›</a:t>
            </a:fld>
            <a:endParaRPr lang="en-AU"/>
          </a:p>
        </p:txBody>
      </p:sp>
    </p:spTree>
    <p:extLst>
      <p:ext uri="{BB962C8B-B14F-4D97-AF65-F5344CB8AC3E}">
        <p14:creationId xmlns:p14="http://schemas.microsoft.com/office/powerpoint/2010/main" val="163430146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7" r:id="rId8"/>
  </p:sldLayoutIdLst>
  <p:hf sldNum="0" hd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3F572-58D7-4143-A4D4-D36E7589C0F7}"/>
              </a:ext>
            </a:extLst>
          </p:cNvPr>
          <p:cNvSpPr>
            <a:spLocks noGrp="1"/>
          </p:cNvSpPr>
          <p:nvPr>
            <p:ph type="title"/>
          </p:nvPr>
        </p:nvSpPr>
        <p:spPr/>
        <p:txBody>
          <a:bodyPr/>
          <a:lstStyle/>
          <a:p>
            <a:r>
              <a:rPr lang="en-US" dirty="0"/>
              <a:t>Decred Charting Suite</a:t>
            </a:r>
            <a:endParaRPr lang="en-AU" dirty="0"/>
          </a:p>
        </p:txBody>
      </p:sp>
      <p:sp>
        <p:nvSpPr>
          <p:cNvPr id="3" name="Content Placeholder 2">
            <a:extLst>
              <a:ext uri="{FF2B5EF4-FFF2-40B4-BE49-F238E27FC236}">
                <a16:creationId xmlns:a16="http://schemas.microsoft.com/office/drawing/2014/main" id="{D08E2369-6CC9-44B8-9524-F789AFCF671A}"/>
              </a:ext>
            </a:extLst>
          </p:cNvPr>
          <p:cNvSpPr>
            <a:spLocks noGrp="1"/>
          </p:cNvSpPr>
          <p:nvPr>
            <p:ph idx="1"/>
          </p:nvPr>
        </p:nvSpPr>
        <p:spPr/>
        <p:txBody>
          <a:bodyPr/>
          <a:lstStyle/>
          <a:p>
            <a:r>
              <a:rPr lang="en-US" b="1" u="sng" dirty="0"/>
              <a:t>Guidelines</a:t>
            </a:r>
          </a:p>
          <a:p>
            <a:pPr marL="457200" indent="-457200">
              <a:buFont typeface="Arial" panose="020B0604020202020204" pitchFamily="34" charset="0"/>
              <a:buChar char="•"/>
            </a:pPr>
            <a:r>
              <a:rPr lang="en-US" sz="2000" dirty="0"/>
              <a:t>The following slides present the input calculations and a sample chart for metrics to be presented as a Decred charting suite.</a:t>
            </a:r>
          </a:p>
          <a:p>
            <a:pPr marL="457200" indent="-457200">
              <a:buFont typeface="Arial" panose="020B0604020202020204" pitchFamily="34" charset="0"/>
              <a:buChar char="•"/>
            </a:pPr>
            <a:r>
              <a:rPr lang="en-US" sz="2000" dirty="0"/>
              <a:t>Raw data is sourced and </a:t>
            </a:r>
            <a:r>
              <a:rPr lang="en-US" sz="2000" dirty="0" err="1"/>
              <a:t>analysed</a:t>
            </a:r>
            <a:r>
              <a:rPr lang="en-US" sz="2000" dirty="0"/>
              <a:t> in python (pandas) from Coinmetrics Community API and </a:t>
            </a:r>
            <a:r>
              <a:rPr lang="en-US" sz="2000" dirty="0" err="1"/>
              <a:t>dcrdata</a:t>
            </a:r>
            <a:r>
              <a:rPr lang="en-US" sz="2000" dirty="0"/>
              <a:t> (via </a:t>
            </a:r>
            <a:r>
              <a:rPr lang="en-US" sz="2000" dirty="0" err="1"/>
              <a:t>TinyDecred</a:t>
            </a:r>
            <a:r>
              <a:rPr lang="en-US" sz="2000" dirty="0"/>
              <a:t>)</a:t>
            </a:r>
          </a:p>
          <a:p>
            <a:pPr marL="457200" indent="-457200">
              <a:buFont typeface="Arial" panose="020B0604020202020204" pitchFamily="34" charset="0"/>
              <a:buChar char="•"/>
            </a:pPr>
            <a:r>
              <a:rPr lang="en-US" sz="2000" dirty="0" err="1"/>
              <a:t>Plotly</a:t>
            </a:r>
            <a:r>
              <a:rPr lang="en-US" sz="2000" dirty="0"/>
              <a:t> open source charting library is used to develop and embed charts</a:t>
            </a:r>
          </a:p>
          <a:p>
            <a:pPr marL="457200" indent="-457200">
              <a:buFont typeface="Arial" panose="020B0604020202020204" pitchFamily="34" charset="0"/>
              <a:buChar char="•"/>
            </a:pPr>
            <a:r>
              <a:rPr lang="en-US" sz="2000" dirty="0"/>
              <a:t>Metric calculations are assumed to be in a pandas table and operational logic is presented as would be performed in </a:t>
            </a:r>
            <a:r>
              <a:rPr lang="en-US" sz="2000" dirty="0" err="1"/>
              <a:t>dataframe</a:t>
            </a:r>
            <a:r>
              <a:rPr lang="en-US" sz="2000" dirty="0"/>
              <a:t> analysis (i.e. multiplied </a:t>
            </a:r>
            <a:r>
              <a:rPr lang="en-US" sz="2000" dirty="0" err="1"/>
              <a:t>meanse</a:t>
            </a:r>
            <a:r>
              <a:rPr lang="en-US" sz="2000" dirty="0"/>
              <a:t> multiplied by value on the same row).</a:t>
            </a:r>
            <a:endParaRPr lang="en-AU" sz="2000" dirty="0"/>
          </a:p>
        </p:txBody>
      </p:sp>
    </p:spTree>
    <p:extLst>
      <p:ext uri="{BB962C8B-B14F-4D97-AF65-F5344CB8AC3E}">
        <p14:creationId xmlns:p14="http://schemas.microsoft.com/office/powerpoint/2010/main" val="2382461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MVRV Ratio</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The MVRV Ratio provides a measure of the relative distance between the market cap and the realised cap. For Decred, this behaves as an oscillator for seeking periods of under and overvaluation through bull and bear cycles.</a:t>
            </a:r>
          </a:p>
          <a:p>
            <a:r>
              <a:rPr lang="en-US" sz="1400" b="1" dirty="0"/>
              <a:t>Note – This chart can also be presented as Price and Realised Price by dividing Market Cap and Realised Cap by Circulating Supply, respectively</a:t>
            </a:r>
            <a:endParaRPr lang="en-AU" sz="1400" b="1" dirty="0"/>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2461653958"/>
                  </p:ext>
                </p:extLst>
              </p:nvPr>
            </p:nvGraphicFramePr>
            <p:xfrm>
              <a:off x="194239" y="3070025"/>
              <a:ext cx="10760273" cy="1750188"/>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r>
                            <a:rPr lang="en-US" sz="1400" b="1" dirty="0">
                              <a:solidFill>
                                <a:srgbClr val="000000"/>
                              </a:solidFill>
                            </a:rPr>
                            <a:t>Market Cap</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𝑆𝑝𝑙𝑦𝐶𝑢𝑟</m:t>
                                </m:r>
                                <m:r>
                                  <a:rPr lang="en-US" sz="1400" b="0" i="1" smtClean="0">
                                    <a:solidFill>
                                      <a:srgbClr val="000000"/>
                                    </a:solidFill>
                                    <a:latin typeface="Cambria Math" panose="02040503050406030204" pitchFamily="18" charset="0"/>
                                  </a:rPr>
                                  <m:t>∗</m:t>
                                </m:r>
                                <m:r>
                                  <a:rPr lang="en-US" sz="1400" b="0" i="1" smtClean="0">
                                    <a:solidFill>
                                      <a:srgbClr val="000000"/>
                                    </a:solidFill>
                                    <a:latin typeface="Cambria Math" panose="02040503050406030204" pitchFamily="18" charset="0"/>
                                  </a:rPr>
                                  <m:t>𝑃𝑟𝑖𝑐𝑒𝑈𝑆𝐷</m:t>
                                </m:r>
                              </m:oMath>
                            </m:oMathPara>
                          </a14:m>
                          <a:endParaRPr lang="en-AU" sz="1400" dirty="0">
                            <a:solidFill>
                              <a:srgbClr val="000000"/>
                            </a:solidFill>
                          </a:endParaRPr>
                        </a:p>
                      </a:txBody>
                      <a:tcPr anchor="ctr">
                        <a:solidFill>
                          <a:srgbClr val="C0CAF6"/>
                        </a:solidFill>
                      </a:tcPr>
                    </a:tc>
                    <a:tc>
                      <a:txBody>
                        <a:bodyPr/>
                        <a:lstStyle/>
                        <a:p>
                          <a:pPr algn="ctr"/>
                          <a:r>
                            <a:rPr lang="en-US" sz="1400" dirty="0">
                              <a:solidFill>
                                <a:srgbClr val="000000"/>
                              </a:solidFill>
                            </a:rPr>
                            <a:t>Coinmetrics = </a:t>
                          </a:r>
                          <a14:m>
                            <m:oMath xmlns:m="http://schemas.openxmlformats.org/officeDocument/2006/math">
                              <m:r>
                                <a:rPr lang="en-US" sz="1400" b="0" i="1" smtClean="0">
                                  <a:solidFill>
                                    <a:srgbClr val="000000"/>
                                  </a:solidFill>
                                  <a:latin typeface="Cambria Math" panose="02040503050406030204" pitchFamily="18" charset="0"/>
                                </a:rPr>
                                <m:t>𝐶𝑎𝑝𝑀𝑟𝑘𝑡𝐶𝑢𝑟𝑈𝑆𝐷</m:t>
                              </m:r>
                            </m:oMath>
                          </a14:m>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r>
                            <a:rPr lang="en-US" sz="1400" b="1" dirty="0">
                              <a:solidFill>
                                <a:srgbClr val="000000"/>
                              </a:solidFill>
                            </a:rPr>
                            <a:t>Realised Cap</a:t>
                          </a:r>
                          <a:endParaRPr lang="en-AU" sz="1400" b="1" dirty="0">
                            <a:solidFill>
                              <a:srgbClr val="000000"/>
                            </a:solidFill>
                          </a:endParaRPr>
                        </a:p>
                      </a:txBody>
                      <a:tcPr anchor="ctr"/>
                    </a:tc>
                    <a:tc>
                      <a:txBody>
                        <a:bodyPr/>
                        <a:lstStyle/>
                        <a:p>
                          <a:pPr algn="ctr"/>
                          <a:r>
                            <a:rPr lang="en-US" sz="1400" dirty="0">
                              <a:solidFill>
                                <a:srgbClr val="000000"/>
                              </a:solidFill>
                            </a:rPr>
                            <a:t>Left</a:t>
                          </a:r>
                          <a:endParaRPr lang="en-AU" sz="1400" dirty="0">
                            <a:solidFill>
                              <a:srgbClr val="00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AU" sz="1400" i="1" smtClean="0">
                                        <a:solidFill>
                                          <a:srgbClr val="000000"/>
                                        </a:solidFill>
                                        <a:latin typeface="Cambria Math" panose="02040503050406030204" pitchFamily="18" charset="0"/>
                                      </a:rPr>
                                    </m:ctrlPr>
                                  </m:naryPr>
                                  <m:sub/>
                                  <m:sup/>
                                  <m:e>
                                    <m:d>
                                      <m:dPr>
                                        <m:ctrlPr>
                                          <a:rPr lang="en-AU" sz="1400" i="1" smtClean="0">
                                            <a:solidFill>
                                              <a:srgbClr val="000000"/>
                                            </a:solidFill>
                                            <a:latin typeface="Cambria Math" panose="02040503050406030204" pitchFamily="18" charset="0"/>
                                          </a:rPr>
                                        </m:ctrlPr>
                                      </m:dPr>
                                      <m:e>
                                        <m:sSub>
                                          <m:sSubPr>
                                            <m:ctrlPr>
                                              <a:rPr lang="en-AU" sz="140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𝑈𝑇𝑋𝑂</m:t>
                                            </m:r>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𝑆𝑖𝑧𝑒</m:t>
                                            </m:r>
                                          </m:e>
                                          <m:sub>
                                            <m:r>
                                              <a:rPr lang="en-US" sz="1400" b="0" i="1" smtClean="0">
                                                <a:solidFill>
                                                  <a:srgbClr val="000000"/>
                                                </a:solidFill>
                                                <a:latin typeface="Cambria Math" panose="02040503050406030204" pitchFamily="18" charset="0"/>
                                              </a:rPr>
                                              <m:t>𝑈𝑛𝑠𝑝𝑒𝑛𝑡</m:t>
                                            </m:r>
                                          </m:sub>
                                        </m:sSub>
                                        <m:r>
                                          <a:rPr lang="en-US" sz="1400" b="0" i="1" smtClean="0">
                                            <a:solidFill>
                                              <a:srgbClr val="000000"/>
                                            </a:solidFill>
                                            <a:latin typeface="Cambria Math" panose="02040503050406030204" pitchFamily="18" charset="0"/>
                                          </a:rPr>
                                          <m:t> ∗ </m:t>
                                        </m:r>
                                        <m:sSub>
                                          <m:sSubPr>
                                            <m:ctrlPr>
                                              <a:rPr lang="en-US" sz="1400" b="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𝑃𝑟𝑖𝑐𝑒𝑈𝑆𝐷</m:t>
                                            </m:r>
                                          </m:e>
                                          <m:sub>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𝑈𝑇𝑋𝑂</m:t>
                                            </m:r>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𝑇𝑖𝑚𝑒𝑠𝑡𝑎𝑚𝑝</m:t>
                                            </m:r>
                                          </m:sub>
                                        </m:sSub>
                                      </m:e>
                                    </m:d>
                                  </m:e>
                                </m:nary>
                              </m:oMath>
                            </m:oMathPara>
                          </a14:m>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00000"/>
                              </a:solidFill>
                            </a:rPr>
                            <a:t>Coinmetrics = </a:t>
                          </a:r>
                          <a14:m>
                            <m:oMath xmlns:m="http://schemas.openxmlformats.org/officeDocument/2006/math">
                              <m:r>
                                <a:rPr lang="en-US" sz="1400" b="0" i="1" smtClean="0">
                                  <a:solidFill>
                                    <a:srgbClr val="000000"/>
                                  </a:solidFill>
                                  <a:latin typeface="Cambria Math" panose="02040503050406030204" pitchFamily="18" charset="0"/>
                                </a:rPr>
                                <m:t>𝐶𝑎𝑝𝑅𝑒𝑎𝑙𝑈𝑆𝐷</m:t>
                              </m:r>
                            </m:oMath>
                          </a14:m>
                          <a:endParaRPr lang="en-AU" sz="1400"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r>
                            <a:rPr lang="en-US" sz="1400" b="1" dirty="0">
                              <a:solidFill>
                                <a:srgbClr val="000000"/>
                              </a:solidFill>
                            </a:rPr>
                            <a:t>MVRV Ratio</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Right</a:t>
                          </a:r>
                          <a:endParaRPr lang="en-AU" sz="1400" dirty="0">
                            <a:solidFill>
                              <a:srgbClr val="000000"/>
                            </a:solidFill>
                          </a:endParaRPr>
                        </a:p>
                      </a:txBody>
                      <a:tcPr anchor="ctr">
                        <a:solidFill>
                          <a:srgbClr val="C0CAF6"/>
                        </a:solidFill>
                      </a:tcPr>
                    </a:tc>
                    <a:tc>
                      <a:txBody>
                        <a:bodyPr/>
                        <a:lstStyle/>
                        <a:p>
                          <a:pPr algn="ctr"/>
                          <a14:m>
                            <m:oMathPara xmlns:m="http://schemas.openxmlformats.org/officeDocument/2006/math">
                              <m:oMathParaPr>
                                <m:jc m:val="centerGroup"/>
                              </m:oMathParaPr>
                              <m:oMath xmlns:m="http://schemas.openxmlformats.org/officeDocument/2006/math">
                                <m:f>
                                  <m:fPr>
                                    <m:ctrlPr>
                                      <a:rPr lang="en-AU" sz="1400" i="1" smtClean="0">
                                        <a:solidFill>
                                          <a:srgbClr val="000000"/>
                                        </a:solidFill>
                                        <a:latin typeface="Cambria Math" panose="02040503050406030204" pitchFamily="18" charset="0"/>
                                      </a:rPr>
                                    </m:ctrlPr>
                                  </m:fPr>
                                  <m:num>
                                    <m:r>
                                      <a:rPr lang="en-US" sz="1400" b="0" i="1" smtClean="0">
                                        <a:solidFill>
                                          <a:srgbClr val="000000"/>
                                        </a:solidFill>
                                        <a:latin typeface="Cambria Math" panose="02040503050406030204" pitchFamily="18" charset="0"/>
                                      </a:rPr>
                                      <m:t>𝑀𝑎𝑟𝑘𝑒𝑡</m:t>
                                    </m:r>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𝐶𝑎𝑝</m:t>
                                    </m:r>
                                  </m:num>
                                  <m:den>
                                    <m:r>
                                      <a:rPr lang="en-US" sz="1400" b="0" i="1" smtClean="0">
                                        <a:solidFill>
                                          <a:srgbClr val="000000"/>
                                        </a:solidFill>
                                        <a:latin typeface="Cambria Math" panose="02040503050406030204" pitchFamily="18" charset="0"/>
                                      </a:rPr>
                                      <m:t>𝑅𝑒𝑎𝑙𝑖𝑠𝑒𝑑</m:t>
                                    </m:r>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𝐶𝑎𝑝</m:t>
                                    </m:r>
                                  </m:den>
                                </m:f>
                                <m:r>
                                  <a:rPr lang="en-US" sz="1400" b="0" i="1" smtClean="0">
                                    <a:solidFill>
                                      <a:srgbClr val="000000"/>
                                    </a:solidFill>
                                    <a:latin typeface="Cambria Math" panose="02040503050406030204" pitchFamily="18" charset="0"/>
                                  </a:rPr>
                                  <m:t>=</m:t>
                                </m:r>
                                <m:f>
                                  <m:fPr>
                                    <m:ctrlPr>
                                      <a:rPr lang="en-AU" sz="1400" i="1" smtClean="0">
                                        <a:solidFill>
                                          <a:srgbClr val="000000"/>
                                        </a:solidFill>
                                        <a:latin typeface="Cambria Math" panose="02040503050406030204" pitchFamily="18" charset="0"/>
                                      </a:rPr>
                                    </m:ctrlPr>
                                  </m:fPr>
                                  <m:num>
                                    <m:r>
                                      <a:rPr lang="en-US" sz="1400" b="0" i="1" smtClean="0">
                                        <a:solidFill>
                                          <a:srgbClr val="000000"/>
                                        </a:solidFill>
                                        <a:latin typeface="Cambria Math" panose="02040503050406030204" pitchFamily="18" charset="0"/>
                                      </a:rPr>
                                      <m:t>𝐶𝑎𝑝𝑀𝑟𝑘𝑡𝐶𝑢𝑟𝑈𝑆𝐷</m:t>
                                    </m:r>
                                  </m:num>
                                  <m:den>
                                    <m:r>
                                      <a:rPr lang="en-US" sz="1400" b="0" i="1" smtClean="0">
                                        <a:solidFill>
                                          <a:srgbClr val="000000"/>
                                        </a:solidFill>
                                        <a:latin typeface="Cambria Math" panose="02040503050406030204" pitchFamily="18" charset="0"/>
                                      </a:rPr>
                                      <m:t>𝐶𝑎𝑝𝑅𝑒𝑎𝑙𝑈𝑆𝐷</m:t>
                                    </m:r>
                                  </m:den>
                                </m:f>
                              </m:oMath>
                            </m:oMathPara>
                          </a14:m>
                          <a:endParaRPr lang="en-AU" sz="1400" dirty="0">
                            <a:solidFill>
                              <a:srgbClr val="000000"/>
                            </a:solidFill>
                          </a:endParaRPr>
                        </a:p>
                      </a:txBody>
                      <a:tcPr anchor="ctr">
                        <a:solidFill>
                          <a:srgbClr val="C0CAF6"/>
                        </a:solidFill>
                      </a:tcPr>
                    </a:tc>
                    <a:tc>
                      <a:txBody>
                        <a:bodyPr/>
                        <a:lstStyle/>
                        <a:p>
                          <a:pPr algn="ctr"/>
                          <a:r>
                            <a:rPr lang="en-US" sz="1400" i="1" dirty="0">
                              <a:solidFill>
                                <a:srgbClr val="000000"/>
                              </a:solidFill>
                            </a:rPr>
                            <a:t>MVRV</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mc:Choice>
        <mc:Fallback xmlns="">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2461653958"/>
                  </p:ext>
                </p:extLst>
              </p:nvPr>
            </p:nvGraphicFramePr>
            <p:xfrm>
              <a:off x="194239" y="3070025"/>
              <a:ext cx="10760273" cy="1750188"/>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304800">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304800">
                    <a:tc>
                      <a:txBody>
                        <a:bodyPr/>
                        <a:lstStyle/>
                        <a:p>
                          <a:pPr algn="ctr"/>
                          <a:r>
                            <a:rPr lang="en-US" sz="1400" b="1" dirty="0">
                              <a:solidFill>
                                <a:srgbClr val="000000"/>
                              </a:solidFill>
                            </a:rPr>
                            <a:t>Market Cap</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132000" r="-58956" b="-540000"/>
                          </a:stretch>
                        </a:blipFill>
                      </a:tcPr>
                    </a:tc>
                    <a:tc>
                      <a:txBody>
                        <a:bodyPr/>
                        <a:lstStyle/>
                        <a:p>
                          <a:endParaRPr lang="en-US"/>
                        </a:p>
                      </a:txBody>
                      <a:tcPr anchor="ctr">
                        <a:blipFill>
                          <a:blip r:embed="rId2"/>
                          <a:stretch>
                            <a:fillRect l="-259146" t="-132000" r="-1016" b="-540000"/>
                          </a:stretch>
                        </a:blipFill>
                      </a:tcPr>
                    </a:tc>
                    <a:extLst>
                      <a:ext uri="{0D108BD9-81ED-4DB2-BD59-A6C34878D82A}">
                        <a16:rowId xmlns:a16="http://schemas.microsoft.com/office/drawing/2014/main" val="2839142299"/>
                      </a:ext>
                    </a:extLst>
                  </a:tr>
                  <a:tr h="608140">
                    <a:tc>
                      <a:txBody>
                        <a:bodyPr/>
                        <a:lstStyle/>
                        <a:p>
                          <a:pPr algn="ctr"/>
                          <a:r>
                            <a:rPr lang="en-US" sz="1400" b="1" dirty="0">
                              <a:solidFill>
                                <a:srgbClr val="000000"/>
                              </a:solidFill>
                            </a:rPr>
                            <a:t>Realised Cap</a:t>
                          </a:r>
                          <a:endParaRPr lang="en-AU" sz="1400" b="1" dirty="0">
                            <a:solidFill>
                              <a:srgbClr val="000000"/>
                            </a:solidFill>
                          </a:endParaRPr>
                        </a:p>
                      </a:txBody>
                      <a:tcPr anchor="ctr"/>
                    </a:tc>
                    <a:tc>
                      <a:txBody>
                        <a:bodyPr/>
                        <a:lstStyle/>
                        <a:p>
                          <a:pPr algn="ctr"/>
                          <a:r>
                            <a:rPr lang="en-US" sz="1400" dirty="0">
                              <a:solidFill>
                                <a:srgbClr val="000000"/>
                              </a:solidFill>
                            </a:rPr>
                            <a:t>Left</a:t>
                          </a:r>
                          <a:endParaRPr lang="en-AU" sz="1400" dirty="0">
                            <a:solidFill>
                              <a:srgbClr val="000000"/>
                            </a:solidFill>
                          </a:endParaRPr>
                        </a:p>
                      </a:txBody>
                      <a:tcPr anchor="ctr"/>
                    </a:tc>
                    <a:tc>
                      <a:txBody>
                        <a:bodyPr/>
                        <a:lstStyle/>
                        <a:p>
                          <a:endParaRPr lang="en-US"/>
                        </a:p>
                      </a:txBody>
                      <a:tcPr anchor="ctr">
                        <a:blipFill>
                          <a:blip r:embed="rId2"/>
                          <a:stretch>
                            <a:fillRect l="-51246" t="-116000" r="-58956" b="-170000"/>
                          </a:stretch>
                        </a:blipFill>
                      </a:tcPr>
                    </a:tc>
                    <a:tc>
                      <a:txBody>
                        <a:bodyPr/>
                        <a:lstStyle/>
                        <a:p>
                          <a:endParaRPr lang="en-US"/>
                        </a:p>
                      </a:txBody>
                      <a:tcPr anchor="ctr">
                        <a:blipFill>
                          <a:blip r:embed="rId2"/>
                          <a:stretch>
                            <a:fillRect l="-259146" t="-116000" r="-1016" b="-170000"/>
                          </a:stretch>
                        </a:blipFill>
                      </a:tcPr>
                    </a:tc>
                    <a:extLst>
                      <a:ext uri="{0D108BD9-81ED-4DB2-BD59-A6C34878D82A}">
                        <a16:rowId xmlns:a16="http://schemas.microsoft.com/office/drawing/2014/main" val="1124067287"/>
                      </a:ext>
                    </a:extLst>
                  </a:tr>
                  <a:tr h="532448">
                    <a:tc>
                      <a:txBody>
                        <a:bodyPr/>
                        <a:lstStyle/>
                        <a:p>
                          <a:pPr algn="ctr"/>
                          <a:r>
                            <a:rPr lang="en-US" sz="1400" b="1" dirty="0">
                              <a:solidFill>
                                <a:srgbClr val="000000"/>
                              </a:solidFill>
                            </a:rPr>
                            <a:t>MVRV Ratio</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Right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245455" r="-58956" b="-93182"/>
                          </a:stretch>
                        </a:blipFill>
                      </a:tcPr>
                    </a:tc>
                    <a:tc>
                      <a:txBody>
                        <a:bodyPr/>
                        <a:lstStyle/>
                        <a:p>
                          <a:pPr algn="ctr"/>
                          <a:r>
                            <a:rPr lang="en-US" sz="1400" i="1" dirty="0">
                              <a:solidFill>
                                <a:srgbClr val="000000"/>
                              </a:solidFill>
                            </a:rPr>
                            <a:t>MVRV</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mc:Fallback>
      </mc:AlternateContent>
      <p:sp>
        <p:nvSpPr>
          <p:cNvPr id="6" name="TextBox 5">
            <a:extLst>
              <a:ext uri="{FF2B5EF4-FFF2-40B4-BE49-F238E27FC236}">
                <a16:creationId xmlns:a16="http://schemas.microsoft.com/office/drawing/2014/main" id="{4E859D8E-0DD7-4DD9-BCC1-DF56E298CC61}"/>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#01</a:t>
            </a:r>
            <a:endParaRPr lang="en-AU" b="1" dirty="0">
              <a:solidFill>
                <a:srgbClr val="091440"/>
              </a:solidFill>
            </a:endParaRPr>
          </a:p>
        </p:txBody>
      </p:sp>
    </p:spTree>
    <p:extLst>
      <p:ext uri="{BB962C8B-B14F-4D97-AF65-F5344CB8AC3E}">
        <p14:creationId xmlns:p14="http://schemas.microsoft.com/office/powerpoint/2010/main" val="3628851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47547BD2-CA76-4531-BC61-382B53FC3A81}"/>
              </a:ext>
            </a:extLst>
          </p:cNvPr>
          <p:cNvPicPr>
            <a:picLocks noChangeAspect="1"/>
          </p:cNvPicPr>
          <p:nvPr/>
        </p:nvPicPr>
        <p:blipFill>
          <a:blip r:embed="rId2"/>
          <a:stretch>
            <a:fillRect/>
          </a:stretch>
        </p:blipFill>
        <p:spPr>
          <a:xfrm>
            <a:off x="174723" y="1140643"/>
            <a:ext cx="11128015" cy="5070994"/>
          </a:xfrm>
          <a:prstGeom prst="rect">
            <a:avLst/>
          </a:prstGeom>
        </p:spPr>
      </p:pic>
      <p:sp>
        <p:nvSpPr>
          <p:cNvPr id="9" name="TextBox 8">
            <a:extLst>
              <a:ext uri="{FF2B5EF4-FFF2-40B4-BE49-F238E27FC236}">
                <a16:creationId xmlns:a16="http://schemas.microsoft.com/office/drawing/2014/main" id="{8F13E1B5-31B2-484A-BD2C-4B4420318C88}"/>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#01</a:t>
            </a:r>
            <a:endParaRPr lang="en-AU" b="1" dirty="0">
              <a:solidFill>
                <a:schemeClr val="bg1"/>
              </a:solidFill>
            </a:endParaRPr>
          </a:p>
        </p:txBody>
      </p:sp>
    </p:spTree>
    <p:extLst>
      <p:ext uri="{BB962C8B-B14F-4D97-AF65-F5344CB8AC3E}">
        <p14:creationId xmlns:p14="http://schemas.microsoft.com/office/powerpoint/2010/main" val="470570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Block Subsidy Models (USD)</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The Block Subsidy model developed by @permabullnino presents the cumulative sum of all Decred block rewards issued by the protocol to PoW Miners, PoS Stakeholders, the Treasury and on aggregate. This model represents the aggregate break-even protocol valuation for all stakeholders with a cost basis denominated in USD.</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1077329918"/>
                  </p:ext>
                </p:extLst>
              </p:nvPr>
            </p:nvGraphicFramePr>
            <p:xfrm>
              <a:off x="194239" y="3070025"/>
              <a:ext cx="10760273" cy="213214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r>
                            <a:rPr lang="en-US" sz="1400" b="1" dirty="0">
                              <a:solidFill>
                                <a:srgbClr val="000000"/>
                              </a:solidFill>
                            </a:rPr>
                            <a:t>Market Cap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𝑆𝑝𝑙𝑦𝐶𝑢𝑟</m:t>
                                </m:r>
                                <m:r>
                                  <a:rPr lang="en-US" sz="1400" b="0" i="1" smtClean="0">
                                    <a:solidFill>
                                      <a:srgbClr val="000000"/>
                                    </a:solidFill>
                                    <a:latin typeface="Cambria Math" panose="02040503050406030204" pitchFamily="18" charset="0"/>
                                  </a:rPr>
                                  <m:t>∗</m:t>
                                </m:r>
                                <m:r>
                                  <a:rPr lang="en-US" sz="1400" b="0" i="1" smtClean="0">
                                    <a:solidFill>
                                      <a:srgbClr val="000000"/>
                                    </a:solidFill>
                                    <a:latin typeface="Cambria Math" panose="02040503050406030204" pitchFamily="18" charset="0"/>
                                  </a:rPr>
                                  <m:t>𝑃𝑟𝑖𝑐𝑒𝑈𝑆𝐷</m:t>
                                </m:r>
                              </m:oMath>
                            </m:oMathPara>
                          </a14:m>
                          <a:endParaRPr lang="en-AU" sz="1400" dirty="0">
                            <a:solidFill>
                              <a:srgbClr val="000000"/>
                            </a:solidFill>
                          </a:endParaRPr>
                        </a:p>
                      </a:txBody>
                      <a:tcPr anchor="ctr">
                        <a:solidFill>
                          <a:srgbClr val="C0CAF6"/>
                        </a:solidFill>
                      </a:tcPr>
                    </a:tc>
                    <a:tc>
                      <a:txBody>
                        <a:bodyPr/>
                        <a:lstStyle/>
                        <a:p>
                          <a:pPr algn="ctr"/>
                          <a:r>
                            <a:rPr lang="en-US" sz="1400" dirty="0">
                              <a:solidFill>
                                <a:srgbClr val="000000"/>
                              </a:solidFill>
                            </a:rPr>
                            <a:t>Coinmetrics = </a:t>
                          </a:r>
                          <a14:m>
                            <m:oMath xmlns:m="http://schemas.openxmlformats.org/officeDocument/2006/math">
                              <m:r>
                                <a:rPr lang="en-US" sz="1400" b="0" i="1" smtClean="0">
                                  <a:solidFill>
                                    <a:srgbClr val="000000"/>
                                  </a:solidFill>
                                  <a:latin typeface="Cambria Math" panose="02040503050406030204" pitchFamily="18" charset="0"/>
                                </a:rPr>
                                <m:t>𝐶𝑎𝑝𝑀𝑟𝑘𝑡𝐶𝑢𝑟𝑈𝑆𝐷</m:t>
                              </m:r>
                            </m:oMath>
                          </a14:m>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r>
                            <a:rPr lang="en-US" sz="1400" b="1" dirty="0">
                              <a:solidFill>
                                <a:srgbClr val="000000"/>
                              </a:solidFill>
                            </a:rPr>
                            <a:t>Total (USD)</a:t>
                          </a:r>
                          <a:endParaRPr lang="en-AU" sz="1400" b="1" dirty="0">
                            <a:solidFill>
                              <a:srgbClr val="000000"/>
                            </a:solidFill>
                          </a:endParaRPr>
                        </a:p>
                      </a:txBody>
                      <a:tcPr anchor="ctr"/>
                    </a:tc>
                    <a:tc>
                      <a:txBody>
                        <a:bodyPr/>
                        <a:lstStyle/>
                        <a:p>
                          <a:pPr algn="ctr"/>
                          <a:r>
                            <a:rPr lang="en-US" sz="1400" dirty="0">
                              <a:solidFill>
                                <a:srgbClr val="000000"/>
                              </a:solidFill>
                            </a:rPr>
                            <a:t>Left</a:t>
                          </a:r>
                          <a:endParaRPr lang="en-AU" sz="1400" dirty="0">
                            <a:solidFill>
                              <a:srgbClr val="00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AU" sz="1400" i="1" smtClean="0">
                                        <a:solidFill>
                                          <a:srgbClr val="000000"/>
                                        </a:solidFill>
                                        <a:latin typeface="Cambria Math" panose="02040503050406030204" pitchFamily="18" charset="0"/>
                                      </a:rPr>
                                    </m:ctrlPr>
                                  </m:naryPr>
                                  <m:sub/>
                                  <m:sup/>
                                  <m:e>
                                    <m:sSub>
                                      <m:sSubPr>
                                        <m:ctrlPr>
                                          <a:rPr lang="en-AU" sz="1400" i="1" smtClean="0">
                                            <a:solidFill>
                                              <a:srgbClr val="000000"/>
                                            </a:solidFill>
                                            <a:latin typeface="Cambria Math" panose="02040503050406030204" pitchFamily="18" charset="0"/>
                                          </a:rPr>
                                        </m:ctrlPr>
                                      </m:sSubPr>
                                      <m:e>
                                        <m:d>
                                          <m:dPr>
                                            <m:ctrlPr>
                                              <a:rPr lang="en-AU" sz="140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𝐷𝑎𝑖𝑙𝑦𝐼𝑠𝑠𝑢𝑒𝑑𝑈𝑆𝐷</m:t>
                                            </m:r>
                                          </m:e>
                                        </m:d>
                                      </m:e>
                                      <m:sub>
                                        <m:r>
                                          <a:rPr lang="en-US" sz="1400" b="0" i="1" smtClean="0">
                                            <a:solidFill>
                                              <a:srgbClr val="000000"/>
                                            </a:solidFill>
                                            <a:latin typeface="Cambria Math" panose="02040503050406030204" pitchFamily="18" charset="0"/>
                                          </a:rPr>
                                          <m:t>𝐶𝑢𝑚𝑢𝑙𝑎𝑡𝑖𝑣𝑒</m:t>
                                        </m:r>
                                      </m:sub>
                                    </m:sSub>
                                  </m:e>
                                </m:nary>
                              </m:oMath>
                            </m:oMathPara>
                          </a14:m>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SubsidyCapUSD</a:t>
                          </a:r>
                          <a:endParaRPr lang="en-AU" sz="1400" i="1"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r>
                            <a:rPr lang="en-US" sz="1400" b="1" dirty="0">
                              <a:solidFill>
                                <a:srgbClr val="000000"/>
                              </a:solidFill>
                            </a:rPr>
                            <a:t>PoW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∗0.6</m:t>
                                </m:r>
                                <m:r>
                                  <a:rPr lang="en-US" sz="1400" b="0" i="0" smtClean="0">
                                    <a:solidFill>
                                      <a:srgbClr val="000000"/>
                                    </a:solidFill>
                                    <a:latin typeface="Cambria Math" panose="02040503050406030204" pitchFamily="18" charset="0"/>
                                  </a:rPr>
                                  <m:t>+</m:t>
                                </m:r>
                                <m:r>
                                  <m:rPr>
                                    <m:sty m:val="p"/>
                                  </m:rPr>
                                  <a:rPr lang="en-US" sz="1400" b="0" i="0" smtClean="0">
                                    <a:solidFill>
                                      <a:srgbClr val="000000"/>
                                    </a:solidFill>
                                    <a:latin typeface="Cambria Math" panose="02040503050406030204" pitchFamily="18" charset="0"/>
                                  </a:rPr>
                                  <m:t>FeeTotUSD</m:t>
                                </m:r>
                              </m:oMath>
                            </m:oMathPara>
                          </a14:m>
                          <a:endParaRPr lang="en-AU" sz="1400" dirty="0">
                            <a:solidFill>
                              <a:srgbClr val="000000"/>
                            </a:solidFill>
                          </a:endParaRPr>
                        </a:p>
                      </a:txBody>
                      <a:tcPr anchor="ctr">
                        <a:solidFill>
                          <a:srgbClr val="C0CAF6"/>
                        </a:solidFill>
                      </a:tcPr>
                    </a:tc>
                    <a:tc>
                      <a:txBody>
                        <a:bodyPr/>
                        <a:lstStyle/>
                        <a:p>
                          <a:pPr algn="ctr"/>
                          <a:r>
                            <a:rPr lang="en-US" sz="1400" i="1" dirty="0" err="1">
                              <a:solidFill>
                                <a:srgbClr val="000000"/>
                              </a:solidFill>
                            </a:rPr>
                            <a:t>SubsidyPoWCapUSD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r h="295881">
                    <a:tc>
                      <a:txBody>
                        <a:bodyPr/>
                        <a:lstStyle/>
                        <a:p>
                          <a:pPr algn="ctr"/>
                          <a:r>
                            <a:rPr lang="en-US" sz="1400" b="1" dirty="0">
                              <a:solidFill>
                                <a:srgbClr val="000000"/>
                              </a:solidFill>
                            </a:rPr>
                            <a:t>PoS (USD)</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∗0.3</m:t>
                                </m:r>
                              </m:oMath>
                            </m:oMathPara>
                          </a14:m>
                          <a:endParaRPr lang="en-AU" sz="1400" dirty="0">
                            <a:solidFill>
                              <a:srgbClr val="000000"/>
                            </a:solidFill>
                          </a:endParaRPr>
                        </a:p>
                      </a:txBody>
                      <a:tcPr anchor="ctr">
                        <a:solidFill>
                          <a:srgbClr val="EBEB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SubsidyPoSCapUSD</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3242739052"/>
                      </a:ext>
                    </a:extLst>
                  </a:tr>
                  <a:tr h="295881">
                    <a:tc>
                      <a:txBody>
                        <a:bodyPr/>
                        <a:lstStyle/>
                        <a:p>
                          <a:pPr algn="ctr"/>
                          <a:r>
                            <a:rPr lang="en-US" sz="1400" b="1" dirty="0">
                              <a:solidFill>
                                <a:srgbClr val="000000"/>
                              </a:solidFill>
                            </a:rPr>
                            <a:t>Treasury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∗0.1</m:t>
                                </m:r>
                              </m:oMath>
                            </m:oMathPara>
                          </a14:m>
                          <a:endParaRPr lang="en-AU" sz="1400" dirty="0">
                            <a:solidFill>
                              <a:srgbClr val="000000"/>
                            </a:solidFill>
                          </a:endParaRPr>
                        </a:p>
                      </a:txBody>
                      <a:tcPr anchor="ctr">
                        <a:solidFill>
                          <a:srgbClr val="C0CAF6"/>
                        </a:solidFill>
                      </a:tcPr>
                    </a:tc>
                    <a:tc>
                      <a:txBody>
                        <a:bodyPr/>
                        <a:lstStyle/>
                        <a:p>
                          <a:pPr algn="ctr"/>
                          <a:r>
                            <a:rPr lang="en-US" sz="1400" i="1" dirty="0" err="1">
                              <a:solidFill>
                                <a:srgbClr val="000000"/>
                              </a:solidFill>
                            </a:rPr>
                            <a:t>SubsidyFundCapUSD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655338044"/>
                      </a:ext>
                    </a:extLst>
                  </a:tr>
                </a:tbl>
              </a:graphicData>
            </a:graphic>
          </p:graphicFrame>
        </mc:Choice>
        <mc:Fallback xmlns="">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1077329918"/>
                  </p:ext>
                </p:extLst>
              </p:nvPr>
            </p:nvGraphicFramePr>
            <p:xfrm>
              <a:off x="194239" y="3070025"/>
              <a:ext cx="10760273" cy="213214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304800">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304800">
                    <a:tc>
                      <a:txBody>
                        <a:bodyPr/>
                        <a:lstStyle/>
                        <a:p>
                          <a:pPr algn="ctr"/>
                          <a:r>
                            <a:rPr lang="en-US" sz="1400" b="1" dirty="0">
                              <a:solidFill>
                                <a:srgbClr val="000000"/>
                              </a:solidFill>
                            </a:rPr>
                            <a:t>Market Cap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132000" r="-58956" b="-540000"/>
                          </a:stretch>
                        </a:blipFill>
                      </a:tcPr>
                    </a:tc>
                    <a:tc>
                      <a:txBody>
                        <a:bodyPr/>
                        <a:lstStyle/>
                        <a:p>
                          <a:endParaRPr lang="en-US"/>
                        </a:p>
                      </a:txBody>
                      <a:tcPr anchor="ctr">
                        <a:blipFill>
                          <a:blip r:embed="rId2"/>
                          <a:stretch>
                            <a:fillRect l="-259146" t="-132000" r="-1016" b="-540000"/>
                          </a:stretch>
                        </a:blipFill>
                      </a:tcPr>
                    </a:tc>
                    <a:extLst>
                      <a:ext uri="{0D108BD9-81ED-4DB2-BD59-A6C34878D82A}">
                        <a16:rowId xmlns:a16="http://schemas.microsoft.com/office/drawing/2014/main" val="2839142299"/>
                      </a:ext>
                    </a:extLst>
                  </a:tr>
                  <a:tr h="608140">
                    <a:tc>
                      <a:txBody>
                        <a:bodyPr/>
                        <a:lstStyle/>
                        <a:p>
                          <a:pPr algn="ctr"/>
                          <a:r>
                            <a:rPr lang="en-US" sz="1400" b="1" dirty="0">
                              <a:solidFill>
                                <a:srgbClr val="000000"/>
                              </a:solidFill>
                            </a:rPr>
                            <a:t>Total (USD)</a:t>
                          </a:r>
                          <a:endParaRPr lang="en-AU" sz="1400" b="1" dirty="0">
                            <a:solidFill>
                              <a:srgbClr val="000000"/>
                            </a:solidFill>
                          </a:endParaRPr>
                        </a:p>
                      </a:txBody>
                      <a:tcPr anchor="ctr"/>
                    </a:tc>
                    <a:tc>
                      <a:txBody>
                        <a:bodyPr/>
                        <a:lstStyle/>
                        <a:p>
                          <a:pPr algn="ctr"/>
                          <a:r>
                            <a:rPr lang="en-US" sz="1400" dirty="0">
                              <a:solidFill>
                                <a:srgbClr val="000000"/>
                              </a:solidFill>
                            </a:rPr>
                            <a:t>Left</a:t>
                          </a:r>
                          <a:endParaRPr lang="en-AU" sz="1400" dirty="0">
                            <a:solidFill>
                              <a:srgbClr val="000000"/>
                            </a:solidFill>
                          </a:endParaRPr>
                        </a:p>
                      </a:txBody>
                      <a:tcPr anchor="ctr"/>
                    </a:tc>
                    <a:tc>
                      <a:txBody>
                        <a:bodyPr/>
                        <a:lstStyle/>
                        <a:p>
                          <a:endParaRPr lang="en-US"/>
                        </a:p>
                      </a:txBody>
                      <a:tcPr anchor="ctr">
                        <a:blipFill>
                          <a:blip r:embed="rId2"/>
                          <a:stretch>
                            <a:fillRect l="-51246" t="-116000" r="-58956" b="-170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SubsidyCapUSD</a:t>
                          </a:r>
                          <a:endParaRPr lang="en-AU" sz="1400" i="1" dirty="0">
                            <a:solidFill>
                              <a:srgbClr val="000000"/>
                            </a:solidFill>
                          </a:endParaRPr>
                        </a:p>
                      </a:txBody>
                      <a:tcPr anchor="ctr"/>
                    </a:tc>
                    <a:extLst>
                      <a:ext uri="{0D108BD9-81ED-4DB2-BD59-A6C34878D82A}">
                        <a16:rowId xmlns:a16="http://schemas.microsoft.com/office/drawing/2014/main" val="1124067287"/>
                      </a:ext>
                    </a:extLst>
                  </a:tr>
                  <a:tr h="304800">
                    <a:tc>
                      <a:txBody>
                        <a:bodyPr/>
                        <a:lstStyle/>
                        <a:p>
                          <a:pPr algn="ctr"/>
                          <a:r>
                            <a:rPr lang="en-US" sz="1400" b="1" dirty="0">
                              <a:solidFill>
                                <a:srgbClr val="000000"/>
                              </a:solidFill>
                            </a:rPr>
                            <a:t>PoW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423529" r="-58956" b="-233333"/>
                          </a:stretch>
                        </a:blipFill>
                      </a:tcPr>
                    </a:tc>
                    <a:tc>
                      <a:txBody>
                        <a:bodyPr/>
                        <a:lstStyle/>
                        <a:p>
                          <a:pPr algn="ctr"/>
                          <a:r>
                            <a:rPr lang="en-US" sz="1400" i="1" dirty="0" err="1">
                              <a:solidFill>
                                <a:srgbClr val="000000"/>
                              </a:solidFill>
                            </a:rPr>
                            <a:t>SubsidyPoWCapUSD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r h="304800">
                    <a:tc>
                      <a:txBody>
                        <a:bodyPr/>
                        <a:lstStyle/>
                        <a:p>
                          <a:pPr algn="ctr"/>
                          <a:r>
                            <a:rPr lang="en-US" sz="1400" b="1" dirty="0">
                              <a:solidFill>
                                <a:srgbClr val="000000"/>
                              </a:solidFill>
                            </a:rPr>
                            <a:t>PoS (USD)</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endParaRPr lang="en-US"/>
                        </a:p>
                      </a:txBody>
                      <a:tcPr anchor="ctr">
                        <a:blipFill>
                          <a:blip r:embed="rId2"/>
                          <a:stretch>
                            <a:fillRect l="-51246" t="-534000" r="-58956" b="-138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SubsidyPoSCapUSD</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3242739052"/>
                      </a:ext>
                    </a:extLst>
                  </a:tr>
                  <a:tr h="304800">
                    <a:tc>
                      <a:txBody>
                        <a:bodyPr/>
                        <a:lstStyle/>
                        <a:p>
                          <a:pPr algn="ctr"/>
                          <a:r>
                            <a:rPr lang="en-US" sz="1400" b="1" dirty="0">
                              <a:solidFill>
                                <a:srgbClr val="000000"/>
                              </a:solidFill>
                            </a:rPr>
                            <a:t>Treasury (USD)</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634000" r="-58956" b="-38000"/>
                          </a:stretch>
                        </a:blipFill>
                      </a:tcPr>
                    </a:tc>
                    <a:tc>
                      <a:txBody>
                        <a:bodyPr/>
                        <a:lstStyle/>
                        <a:p>
                          <a:pPr algn="ctr"/>
                          <a:r>
                            <a:rPr lang="en-US" sz="1400" i="1" dirty="0" err="1">
                              <a:solidFill>
                                <a:srgbClr val="000000"/>
                              </a:solidFill>
                            </a:rPr>
                            <a:t>SubsidyFundCapUSD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655338044"/>
                      </a:ext>
                    </a:extLst>
                  </a:tr>
                </a:tbl>
              </a:graphicData>
            </a:graphic>
          </p:graphicFrame>
        </mc:Fallback>
      </mc:AlternateContent>
      <p:sp>
        <p:nvSpPr>
          <p:cNvPr id="6" name="TextBox 5">
            <a:extLst>
              <a:ext uri="{FF2B5EF4-FFF2-40B4-BE49-F238E27FC236}">
                <a16:creationId xmlns:a16="http://schemas.microsoft.com/office/drawing/2014/main" id="{9DFCA9C6-A741-451F-B191-BFF7F22F8DFA}"/>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#02</a:t>
            </a:r>
            <a:endParaRPr lang="en-AU" b="1" dirty="0">
              <a:solidFill>
                <a:srgbClr val="091440"/>
              </a:solidFill>
            </a:endParaRPr>
          </a:p>
        </p:txBody>
      </p:sp>
    </p:spTree>
    <p:extLst>
      <p:ext uri="{BB962C8B-B14F-4D97-AF65-F5344CB8AC3E}">
        <p14:creationId xmlns:p14="http://schemas.microsoft.com/office/powerpoint/2010/main" val="931785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 name="Picture 2">
            <a:extLst>
              <a:ext uri="{FF2B5EF4-FFF2-40B4-BE49-F238E27FC236}">
                <a16:creationId xmlns:a16="http://schemas.microsoft.com/office/drawing/2014/main" id="{CB3A121A-F611-474C-89A3-2CE6434A1C47}"/>
              </a:ext>
            </a:extLst>
          </p:cNvPr>
          <p:cNvPicPr>
            <a:picLocks noChangeAspect="1"/>
          </p:cNvPicPr>
          <p:nvPr/>
        </p:nvPicPr>
        <p:blipFill rotWithShape="1">
          <a:blip r:embed="rId2"/>
          <a:srcRect r="22019"/>
          <a:stretch/>
        </p:blipFill>
        <p:spPr>
          <a:xfrm>
            <a:off x="-1" y="801278"/>
            <a:ext cx="9317319" cy="5364964"/>
          </a:xfrm>
          <a:prstGeom prst="rect">
            <a:avLst/>
          </a:prstGeom>
        </p:spPr>
      </p:pic>
      <p:grpSp>
        <p:nvGrpSpPr>
          <p:cNvPr id="4" name="Group 3">
            <a:extLst>
              <a:ext uri="{FF2B5EF4-FFF2-40B4-BE49-F238E27FC236}">
                <a16:creationId xmlns:a16="http://schemas.microsoft.com/office/drawing/2014/main" id="{9205ED84-088F-4DD4-9837-224C70094E2B}"/>
              </a:ext>
            </a:extLst>
          </p:cNvPr>
          <p:cNvGrpSpPr/>
          <p:nvPr/>
        </p:nvGrpSpPr>
        <p:grpSpPr>
          <a:xfrm>
            <a:off x="9317318" y="2802141"/>
            <a:ext cx="1742142" cy="1363237"/>
            <a:chOff x="9317319" y="2621731"/>
            <a:chExt cx="1361834" cy="1065643"/>
          </a:xfrm>
        </p:grpSpPr>
        <p:pic>
          <p:nvPicPr>
            <p:cNvPr id="5" name="Picture 4">
              <a:extLst>
                <a:ext uri="{FF2B5EF4-FFF2-40B4-BE49-F238E27FC236}">
                  <a16:creationId xmlns:a16="http://schemas.microsoft.com/office/drawing/2014/main" id="{3539A6C7-64ED-45C4-8A5C-3F5DBEEEAAF3}"/>
                </a:ext>
              </a:extLst>
            </p:cNvPr>
            <p:cNvPicPr>
              <a:picLocks noChangeAspect="1"/>
            </p:cNvPicPr>
            <p:nvPr/>
          </p:nvPicPr>
          <p:blipFill rotWithShape="1">
            <a:blip r:embed="rId2"/>
            <a:srcRect l="82736" t="33014" r="5215" b="49176"/>
            <a:stretch/>
          </p:blipFill>
          <p:spPr>
            <a:xfrm>
              <a:off x="9317319" y="2621731"/>
              <a:ext cx="1361834" cy="903894"/>
            </a:xfrm>
            <a:prstGeom prst="rect">
              <a:avLst/>
            </a:prstGeom>
          </p:spPr>
        </p:pic>
        <p:pic>
          <p:nvPicPr>
            <p:cNvPr id="7" name="Picture 6">
              <a:extLst>
                <a:ext uri="{FF2B5EF4-FFF2-40B4-BE49-F238E27FC236}">
                  <a16:creationId xmlns:a16="http://schemas.microsoft.com/office/drawing/2014/main" id="{9A9DD0A4-1345-464A-8A45-36C47742AC76}"/>
                </a:ext>
              </a:extLst>
            </p:cNvPr>
            <p:cNvPicPr>
              <a:picLocks noChangeAspect="1"/>
            </p:cNvPicPr>
            <p:nvPr/>
          </p:nvPicPr>
          <p:blipFill rotWithShape="1">
            <a:blip r:embed="rId2"/>
            <a:srcRect l="82736" t="53394" r="5215" b="41851"/>
            <a:stretch/>
          </p:blipFill>
          <p:spPr>
            <a:xfrm>
              <a:off x="9317319" y="3446054"/>
              <a:ext cx="1361834" cy="241320"/>
            </a:xfrm>
            <a:prstGeom prst="rect">
              <a:avLst/>
            </a:prstGeom>
          </p:spPr>
        </p:pic>
      </p:grpSp>
      <p:sp>
        <p:nvSpPr>
          <p:cNvPr id="8" name="TextBox 7">
            <a:extLst>
              <a:ext uri="{FF2B5EF4-FFF2-40B4-BE49-F238E27FC236}">
                <a16:creationId xmlns:a16="http://schemas.microsoft.com/office/drawing/2014/main" id="{D916C646-1D00-46B8-B3AD-28BC9B935B75}"/>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#02</a:t>
            </a:r>
            <a:endParaRPr lang="en-AU" b="1" dirty="0">
              <a:solidFill>
                <a:schemeClr val="bg1"/>
              </a:solidFill>
            </a:endParaRPr>
          </a:p>
        </p:txBody>
      </p:sp>
    </p:spTree>
    <p:extLst>
      <p:ext uri="{BB962C8B-B14F-4D97-AF65-F5344CB8AC3E}">
        <p14:creationId xmlns:p14="http://schemas.microsoft.com/office/powerpoint/2010/main" val="1281828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Block Subsidy Models (BTC)</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The Block Subsidy model developed by @permabullnino presents the cumulative sum of all Decred block rewards issued by the protocol to PoW Miners, PoS Stakeholders, the Treasury and on aggregate. This model represents the aggregate break-even protocol valuation for all stakeholders with a cost basis denominated in BTC.</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447260736"/>
                  </p:ext>
                </p:extLst>
              </p:nvPr>
            </p:nvGraphicFramePr>
            <p:xfrm>
              <a:off x="194239" y="3070025"/>
              <a:ext cx="10760273" cy="3266059"/>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r>
                            <a:rPr lang="en-US" sz="1400" b="1" dirty="0">
                              <a:solidFill>
                                <a:srgbClr val="000000"/>
                              </a:solidFill>
                            </a:rPr>
                            <a:t>Market Cap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𝑆𝑝𝑙𝑦𝐶𝑢𝑟</m:t>
                                </m:r>
                                <m:r>
                                  <a:rPr lang="en-US" sz="1400" b="0" i="1" smtClean="0">
                                    <a:solidFill>
                                      <a:srgbClr val="000000"/>
                                    </a:solidFill>
                                    <a:latin typeface="Cambria Math" panose="02040503050406030204" pitchFamily="18" charset="0"/>
                                  </a:rPr>
                                  <m:t>∗</m:t>
                                </m:r>
                                <m:r>
                                  <a:rPr lang="en-US" sz="1400" b="0" i="1" smtClean="0">
                                    <a:solidFill>
                                      <a:srgbClr val="000000"/>
                                    </a:solidFill>
                                    <a:latin typeface="Cambria Math" panose="02040503050406030204" pitchFamily="18" charset="0"/>
                                  </a:rPr>
                                  <m:t>𝑃𝑟𝑖𝑐𝑒𝐵𝑇𝐶</m:t>
                                </m:r>
                              </m:oMath>
                            </m:oMathPara>
                          </a14:m>
                          <a:endParaRPr lang="en-AU" sz="1400" dirty="0">
                            <a:solidFill>
                              <a:srgbClr val="000000"/>
                            </a:solidFill>
                          </a:endParaRPr>
                        </a:p>
                      </a:txBody>
                      <a:tcPr anchor="ctr">
                        <a:solidFill>
                          <a:srgbClr val="C0CAF6"/>
                        </a:solidFill>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𝐶𝑎𝑝𝑀𝑟𝑘𝑡𝐶𝑢𝑟𝐵𝑇𝐶</m:t>
                                </m:r>
                              </m:oMath>
                            </m:oMathPara>
                          </a14:m>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r>
                            <a:rPr lang="en-US" sz="1400" b="1" dirty="0">
                              <a:solidFill>
                                <a:srgbClr val="000000"/>
                              </a:solidFill>
                            </a:rPr>
                            <a:t>Bitcoin Price (USD)</a:t>
                          </a:r>
                          <a:endParaRPr lang="en-AU" sz="1400" b="1" dirty="0">
                            <a:solidFill>
                              <a:srgbClr val="000000"/>
                            </a:solidFill>
                          </a:endParaRPr>
                        </a:p>
                      </a:txBody>
                      <a:tcPr anchor="ctr">
                        <a:solidFill>
                          <a:srgbClr val="FC848D"/>
                        </a:solidFill>
                      </a:tcPr>
                    </a:tc>
                    <a:tc>
                      <a:txBody>
                        <a:bodyPr/>
                        <a:lstStyle/>
                        <a:p>
                          <a:pPr algn="ctr"/>
                          <a:r>
                            <a:rPr lang="en-US" sz="1400" dirty="0">
                              <a:solidFill>
                                <a:srgbClr val="000000"/>
                              </a:solidFill>
                            </a:rPr>
                            <a:t>N/A</a:t>
                          </a:r>
                          <a:endParaRPr lang="en-AU" sz="1400" dirty="0">
                            <a:solidFill>
                              <a:srgbClr val="000000"/>
                            </a:solidFill>
                          </a:endParaRPr>
                        </a:p>
                      </a:txBody>
                      <a:tcPr anchor="ctr">
                        <a:solidFill>
                          <a:srgbClr val="FC848D"/>
                        </a:solidFill>
                      </a:tcPr>
                    </a:tc>
                    <a:tc>
                      <a:txBody>
                        <a:bodyPr/>
                        <a:lstStyle/>
                        <a:p>
                          <a:pPr algn="ctr"/>
                          <a14:m>
                            <m:oMathPara xmlns:m="http://schemas.openxmlformats.org/officeDocument/2006/math">
                              <m:oMathParaPr>
                                <m:jc m:val="centerGroup"/>
                              </m:oMathParaPr>
                              <m:oMath xmlns:m="http://schemas.openxmlformats.org/officeDocument/2006/math">
                                <m:f>
                                  <m:fPr>
                                    <m:ctrlPr>
                                      <a:rPr lang="en-US" sz="1400" b="0" i="1" smtClean="0">
                                        <a:solidFill>
                                          <a:srgbClr val="000000"/>
                                        </a:solidFill>
                                        <a:latin typeface="Cambria Math" panose="02040503050406030204" pitchFamily="18" charset="0"/>
                                      </a:rPr>
                                    </m:ctrlPr>
                                  </m:fPr>
                                  <m:num>
                                    <m:r>
                                      <a:rPr lang="en-US" sz="1400" b="0" i="1" smtClean="0">
                                        <a:solidFill>
                                          <a:srgbClr val="000000"/>
                                        </a:solidFill>
                                        <a:latin typeface="Cambria Math" panose="02040503050406030204" pitchFamily="18" charset="0"/>
                                      </a:rPr>
                                      <m:t>𝑃𝑟𝑖𝑐𝑒𝑈𝑆𝐷</m:t>
                                    </m:r>
                                  </m:num>
                                  <m:den>
                                    <m:r>
                                      <a:rPr lang="en-US" sz="1400" b="0" i="1" smtClean="0">
                                        <a:solidFill>
                                          <a:srgbClr val="000000"/>
                                        </a:solidFill>
                                        <a:latin typeface="Cambria Math" panose="02040503050406030204" pitchFamily="18" charset="0"/>
                                      </a:rPr>
                                      <m:t>𝑃𝑟𝑖𝑐𝑒</m:t>
                                    </m:r>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𝐵𝑇𝐶</m:t>
                                    </m:r>
                                  </m:den>
                                </m:f>
                              </m:oMath>
                            </m:oMathPara>
                          </a14:m>
                          <a:endParaRPr lang="en-AU" sz="1400" dirty="0">
                            <a:solidFill>
                              <a:srgbClr val="000000"/>
                            </a:solidFill>
                          </a:endParaRPr>
                        </a:p>
                      </a:txBody>
                      <a:tcPr anchor="ctr">
                        <a:solidFill>
                          <a:srgbClr val="FC848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BTCPriceUSD</a:t>
                          </a:r>
                          <a:endParaRPr lang="en-US" sz="1400" i="1" dirty="0">
                            <a:solidFill>
                              <a:srgbClr val="00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1" dirty="0">
                              <a:solidFill>
                                <a:srgbClr val="FF0000"/>
                              </a:solidFill>
                            </a:rPr>
                            <a:t>(Intermediate calculation)</a:t>
                          </a:r>
                          <a:endParaRPr lang="en-AU" sz="1400" b="0" i="1" dirty="0">
                            <a:solidFill>
                              <a:srgbClr val="FF0000"/>
                            </a:solidFill>
                          </a:endParaRPr>
                        </a:p>
                      </a:txBody>
                      <a:tcPr anchor="ctr">
                        <a:solidFill>
                          <a:srgbClr val="FC848D"/>
                        </a:solidFill>
                      </a:tcPr>
                    </a:tc>
                    <a:extLst>
                      <a:ext uri="{0D108BD9-81ED-4DB2-BD59-A6C34878D82A}">
                        <a16:rowId xmlns:a16="http://schemas.microsoft.com/office/drawing/2014/main" val="1905415424"/>
                      </a:ext>
                    </a:extLst>
                  </a:tr>
                  <a:tr h="0">
                    <a:tc>
                      <a:txBody>
                        <a:bodyPr/>
                        <a:lstStyle/>
                        <a:p>
                          <a:pPr algn="ctr"/>
                          <a:r>
                            <a:rPr lang="en-US" sz="1400" b="1" dirty="0">
                              <a:solidFill>
                                <a:srgbClr val="000000"/>
                              </a:solidFill>
                            </a:rPr>
                            <a:t>Total (BTC)</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AU" sz="1400" i="1" smtClean="0">
                                        <a:solidFill>
                                          <a:srgbClr val="000000"/>
                                        </a:solidFill>
                                        <a:latin typeface="Cambria Math" panose="02040503050406030204" pitchFamily="18" charset="0"/>
                                      </a:rPr>
                                    </m:ctrlPr>
                                  </m:naryPr>
                                  <m:sub/>
                                  <m:sup/>
                                  <m:e>
                                    <m:sSub>
                                      <m:sSubPr>
                                        <m:ctrlPr>
                                          <a:rPr lang="en-AU" sz="1400" i="1" smtClean="0">
                                            <a:solidFill>
                                              <a:srgbClr val="000000"/>
                                            </a:solidFill>
                                            <a:latin typeface="Cambria Math" panose="02040503050406030204" pitchFamily="18" charset="0"/>
                                          </a:rPr>
                                        </m:ctrlPr>
                                      </m:sSubPr>
                                      <m:e>
                                        <m:d>
                                          <m:dPr>
                                            <m:ctrlPr>
                                              <a:rPr lang="en-AU" sz="1400" i="1" smtClean="0">
                                                <a:solidFill>
                                                  <a:srgbClr val="000000"/>
                                                </a:solidFill>
                                                <a:latin typeface="Cambria Math" panose="02040503050406030204" pitchFamily="18" charset="0"/>
                                              </a:rPr>
                                            </m:ctrlPr>
                                          </m:dPr>
                                          <m:e>
                                            <m:f>
                                              <m:fPr>
                                                <m:ctrlPr>
                                                  <a:rPr lang="en-US" sz="1400" b="0" i="1" smtClean="0">
                                                    <a:solidFill>
                                                      <a:srgbClr val="000000"/>
                                                    </a:solidFill>
                                                    <a:latin typeface="Cambria Math" panose="02040503050406030204" pitchFamily="18" charset="0"/>
                                                  </a:rPr>
                                                </m:ctrlPr>
                                              </m:fPr>
                                              <m:num>
                                                <m:r>
                                                  <a:rPr lang="en-US" sz="1400" b="0" i="1" smtClean="0">
                                                    <a:solidFill>
                                                      <a:srgbClr val="000000"/>
                                                    </a:solidFill>
                                                    <a:latin typeface="Cambria Math" panose="02040503050406030204" pitchFamily="18" charset="0"/>
                                                  </a:rPr>
                                                  <m:t>𝐷𝑎𝑖𝑙𝑦𝐼𝑠𝑠𝑢𝑒𝑑𝑈𝑆𝐷</m:t>
                                                </m:r>
                                              </m:num>
                                              <m:den>
                                                <m:r>
                                                  <m:rPr>
                                                    <m:nor/>
                                                  </m:rPr>
                                                  <a:rPr lang="en-US" sz="1400" i="1" dirty="0" smtClean="0">
                                                    <a:solidFill>
                                                      <a:srgbClr val="000000"/>
                                                    </a:solidFill>
                                                  </a:rPr>
                                                  <m:t>BTCPriceUSD</m:t>
                                                </m:r>
                                              </m:den>
                                            </m:f>
                                            <m:r>
                                              <a:rPr lang="en-US" sz="1400" b="0" i="1" smtClean="0">
                                                <a:solidFill>
                                                  <a:srgbClr val="000000"/>
                                                </a:solidFill>
                                                <a:latin typeface="Cambria Math" panose="02040503050406030204" pitchFamily="18" charset="0"/>
                                              </a:rPr>
                                              <m:t> </m:t>
                                            </m:r>
                                          </m:e>
                                        </m:d>
                                      </m:e>
                                      <m:sub>
                                        <m:r>
                                          <a:rPr lang="en-US" sz="1400" b="0" i="1" smtClean="0">
                                            <a:solidFill>
                                              <a:srgbClr val="000000"/>
                                            </a:solidFill>
                                            <a:latin typeface="Cambria Math" panose="02040503050406030204" pitchFamily="18" charset="0"/>
                                          </a:rPr>
                                          <m:t>𝐶𝑢𝑚𝑢𝑙𝑎𝑡𝑖𝑣𝑒</m:t>
                                        </m:r>
                                      </m:sub>
                                    </m:sSub>
                                  </m:e>
                                </m:nary>
                              </m:oMath>
                            </m:oMathPara>
                          </a14:m>
                          <a:endParaRPr lang="en-AU" sz="1400" dirty="0">
                            <a:solidFill>
                              <a:srgbClr val="000000"/>
                            </a:solidFill>
                          </a:endParaRPr>
                        </a:p>
                      </a:txBody>
                      <a:tcPr anchor="ctr">
                        <a:solidFill>
                          <a:srgbClr val="EBEB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SubsidyCapBTC</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1124067287"/>
                      </a:ext>
                    </a:extLst>
                  </a:tr>
                  <a:tr h="295881">
                    <a:tc>
                      <a:txBody>
                        <a:bodyPr/>
                        <a:lstStyle/>
                        <a:p>
                          <a:pPr algn="ctr"/>
                          <a:r>
                            <a:rPr lang="en-US" sz="1400" b="1" dirty="0">
                              <a:solidFill>
                                <a:srgbClr val="000000"/>
                              </a:solidFill>
                            </a:rPr>
                            <a:t>PoW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400" b="0" i="1" smtClean="0">
                                        <a:solidFill>
                                          <a:srgbClr val="000000"/>
                                        </a:solidFill>
                                        <a:latin typeface="Cambria Math" panose="02040503050406030204" pitchFamily="18" charset="0"/>
                                      </a:rPr>
                                    </m:ctrlPr>
                                  </m:fPr>
                                  <m:num>
                                    <m:d>
                                      <m:dPr>
                                        <m:ctrlPr>
                                          <a:rPr lang="en-US" sz="1400" b="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∗0.6</m:t>
                                        </m:r>
                                        <m:r>
                                          <a:rPr lang="en-US" sz="1400" b="0" i="0" smtClean="0">
                                            <a:solidFill>
                                              <a:srgbClr val="000000"/>
                                            </a:solidFill>
                                            <a:latin typeface="Cambria Math" panose="02040503050406030204" pitchFamily="18" charset="0"/>
                                          </a:rPr>
                                          <m:t>+</m:t>
                                        </m:r>
                                        <m:r>
                                          <m:rPr>
                                            <m:sty m:val="p"/>
                                          </m:rPr>
                                          <a:rPr lang="en-US" sz="1400" b="0" i="0" smtClean="0">
                                            <a:solidFill>
                                              <a:srgbClr val="000000"/>
                                            </a:solidFill>
                                            <a:latin typeface="Cambria Math" panose="02040503050406030204" pitchFamily="18" charset="0"/>
                                          </a:rPr>
                                          <m:t>FeeTotUSD</m:t>
                                        </m:r>
                                      </m:e>
                                    </m:d>
                                  </m:num>
                                  <m:den>
                                    <m:r>
                                      <a:rPr lang="en-US" sz="1400" b="0" i="1" smtClean="0">
                                        <a:solidFill>
                                          <a:srgbClr val="000000"/>
                                        </a:solidFill>
                                        <a:latin typeface="Cambria Math" panose="02040503050406030204" pitchFamily="18" charset="0"/>
                                      </a:rPr>
                                      <m:t>𝐵𝑇𝐶𝑃𝑟𝑖𝑐𝑒𝑈𝑆𝐷</m:t>
                                    </m:r>
                                  </m:den>
                                </m:f>
                              </m:oMath>
                            </m:oMathPara>
                          </a14:m>
                          <a:endParaRPr lang="en-AU" sz="1400" dirty="0">
                            <a:solidFill>
                              <a:srgbClr val="000000"/>
                            </a:solidFill>
                          </a:endParaRPr>
                        </a:p>
                      </a:txBody>
                      <a:tcPr anchor="ctr">
                        <a:solidFill>
                          <a:srgbClr val="C0CAF6"/>
                        </a:solidFill>
                      </a:tcPr>
                    </a:tc>
                    <a:tc>
                      <a:txBody>
                        <a:bodyPr/>
                        <a:lstStyle/>
                        <a:p>
                          <a:pPr algn="ctr"/>
                          <a:r>
                            <a:rPr lang="en-US" sz="1400" i="1" dirty="0" err="1">
                              <a:solidFill>
                                <a:srgbClr val="000000"/>
                              </a:solidFill>
                            </a:rPr>
                            <a:t>SubsidyPoWCapBTC</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r h="295881">
                    <a:tc>
                      <a:txBody>
                        <a:bodyPr/>
                        <a:lstStyle/>
                        <a:p>
                          <a:pPr algn="ctr"/>
                          <a:r>
                            <a:rPr lang="en-US" sz="1400" b="1" dirty="0">
                              <a:solidFill>
                                <a:srgbClr val="000000"/>
                              </a:solidFill>
                            </a:rPr>
                            <a:t>PoS (BTC)</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pPr algn="ctr"/>
                          <a14:m>
                            <m:oMathPara xmlns:m="http://schemas.openxmlformats.org/officeDocument/2006/math">
                              <m:oMathParaPr>
                                <m:jc m:val="centerGroup"/>
                              </m:oMathParaPr>
                              <m:oMath xmlns:m="http://schemas.openxmlformats.org/officeDocument/2006/math">
                                <m:f>
                                  <m:fPr>
                                    <m:ctrlPr>
                                      <a:rPr lang="en-US" sz="1400" b="0" i="1" smtClean="0">
                                        <a:solidFill>
                                          <a:srgbClr val="000000"/>
                                        </a:solidFill>
                                        <a:latin typeface="Cambria Math" panose="02040503050406030204" pitchFamily="18" charset="0"/>
                                      </a:rPr>
                                    </m:ctrlPr>
                                  </m:fPr>
                                  <m:num>
                                    <m:d>
                                      <m:dPr>
                                        <m:ctrlPr>
                                          <a:rPr lang="en-US" sz="1400" b="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m:t>
                                        </m:r>
                                        <m:r>
                                          <a:rPr lang="en-US" sz="1400" b="0" i="0" smtClean="0">
                                            <a:solidFill>
                                              <a:srgbClr val="000000"/>
                                            </a:solidFill>
                                            <a:latin typeface="Cambria Math" panose="02040503050406030204" pitchFamily="18" charset="0"/>
                                          </a:rPr>
                                          <m:t>3+</m:t>
                                        </m:r>
                                        <m:r>
                                          <m:rPr>
                                            <m:sty m:val="p"/>
                                          </m:rPr>
                                          <a:rPr lang="en-US" sz="1400" b="0" i="0" smtClean="0">
                                            <a:solidFill>
                                              <a:srgbClr val="000000"/>
                                            </a:solidFill>
                                            <a:latin typeface="Cambria Math" panose="02040503050406030204" pitchFamily="18" charset="0"/>
                                          </a:rPr>
                                          <m:t>FeeTotUSD</m:t>
                                        </m:r>
                                      </m:e>
                                    </m:d>
                                  </m:num>
                                  <m:den>
                                    <m:r>
                                      <a:rPr lang="en-US" sz="1400" b="0" i="1" smtClean="0">
                                        <a:solidFill>
                                          <a:srgbClr val="000000"/>
                                        </a:solidFill>
                                        <a:latin typeface="Cambria Math" panose="02040503050406030204" pitchFamily="18" charset="0"/>
                                      </a:rPr>
                                      <m:t>𝐵𝑇𝐶𝑃𝑟𝑖𝑐𝑒𝑈𝑆𝐷</m:t>
                                    </m:r>
                                  </m:den>
                                </m:f>
                              </m:oMath>
                            </m:oMathPara>
                          </a14:m>
                          <a:endParaRPr lang="en-AU" sz="1400" dirty="0">
                            <a:solidFill>
                              <a:srgbClr val="000000"/>
                            </a:solidFill>
                          </a:endParaRPr>
                        </a:p>
                      </a:txBody>
                      <a:tcPr anchor="ctr">
                        <a:solidFill>
                          <a:srgbClr val="EBEBE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SubsidyPoSCapBTC</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3242739052"/>
                      </a:ext>
                    </a:extLst>
                  </a:tr>
                  <a:tr h="295881">
                    <a:tc>
                      <a:txBody>
                        <a:bodyPr/>
                        <a:lstStyle/>
                        <a:p>
                          <a:pPr algn="ctr"/>
                          <a:r>
                            <a:rPr lang="en-US" sz="1400" b="1" dirty="0">
                              <a:solidFill>
                                <a:srgbClr val="000000"/>
                              </a:solidFill>
                            </a:rPr>
                            <a:t>Treasury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400" b="0" i="1" smtClean="0">
                                        <a:solidFill>
                                          <a:srgbClr val="000000"/>
                                        </a:solidFill>
                                        <a:latin typeface="Cambria Math" panose="02040503050406030204" pitchFamily="18" charset="0"/>
                                      </a:rPr>
                                    </m:ctrlPr>
                                  </m:fPr>
                                  <m:num>
                                    <m:d>
                                      <m:dPr>
                                        <m:ctrlPr>
                                          <a:rPr lang="en-US" sz="1400" b="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𝑇𝑜𝑡𝑎𝑙𝑈𝑆𝐷</m:t>
                                        </m:r>
                                        <m:r>
                                          <a:rPr lang="en-US" sz="1400" b="0" i="1" smtClean="0">
                                            <a:solidFill>
                                              <a:srgbClr val="000000"/>
                                            </a:solidFill>
                                            <a:latin typeface="Cambria Math" panose="02040503050406030204" pitchFamily="18" charset="0"/>
                                          </a:rPr>
                                          <m:t> ∗0.</m:t>
                                        </m:r>
                                        <m:r>
                                          <a:rPr lang="en-US" sz="1400" b="0" i="0" smtClean="0">
                                            <a:solidFill>
                                              <a:srgbClr val="000000"/>
                                            </a:solidFill>
                                            <a:latin typeface="Cambria Math" panose="02040503050406030204" pitchFamily="18" charset="0"/>
                                          </a:rPr>
                                          <m:t>1+</m:t>
                                        </m:r>
                                        <m:r>
                                          <m:rPr>
                                            <m:sty m:val="p"/>
                                          </m:rPr>
                                          <a:rPr lang="en-US" sz="1400" b="0" i="0" smtClean="0">
                                            <a:solidFill>
                                              <a:srgbClr val="000000"/>
                                            </a:solidFill>
                                            <a:latin typeface="Cambria Math" panose="02040503050406030204" pitchFamily="18" charset="0"/>
                                          </a:rPr>
                                          <m:t>FeeTotUSD</m:t>
                                        </m:r>
                                      </m:e>
                                    </m:d>
                                  </m:num>
                                  <m:den>
                                    <m:r>
                                      <a:rPr lang="en-US" sz="1400" b="0" i="1" smtClean="0">
                                        <a:solidFill>
                                          <a:srgbClr val="000000"/>
                                        </a:solidFill>
                                        <a:latin typeface="Cambria Math" panose="02040503050406030204" pitchFamily="18" charset="0"/>
                                      </a:rPr>
                                      <m:t>𝐵𝑇𝐶𝑃𝑟𝑖𝑐𝑒𝑈𝑆𝐷</m:t>
                                    </m:r>
                                  </m:den>
                                </m:f>
                              </m:oMath>
                            </m:oMathPara>
                          </a14:m>
                          <a:endParaRPr lang="en-AU" sz="1400" dirty="0">
                            <a:solidFill>
                              <a:srgbClr val="000000"/>
                            </a:solidFill>
                          </a:endParaRPr>
                        </a:p>
                      </a:txBody>
                      <a:tcPr anchor="ctr">
                        <a:solidFill>
                          <a:srgbClr val="C0CAF6"/>
                        </a:solidFill>
                      </a:tcPr>
                    </a:tc>
                    <a:tc>
                      <a:txBody>
                        <a:bodyPr/>
                        <a:lstStyle/>
                        <a:p>
                          <a:pPr algn="ctr"/>
                          <a:r>
                            <a:rPr lang="en-US" sz="1400" i="1" dirty="0" err="1">
                              <a:solidFill>
                                <a:srgbClr val="000000"/>
                              </a:solidFill>
                            </a:rPr>
                            <a:t>SubsidyFundCapBTC</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655338044"/>
                      </a:ext>
                    </a:extLst>
                  </a:tr>
                </a:tbl>
              </a:graphicData>
            </a:graphic>
          </p:graphicFrame>
        </mc:Choice>
        <mc:Fallback xmlns="">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447260736"/>
                  </p:ext>
                </p:extLst>
              </p:nvPr>
            </p:nvGraphicFramePr>
            <p:xfrm>
              <a:off x="194239" y="3070025"/>
              <a:ext cx="10760273" cy="3266059"/>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304800">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304800">
                    <a:tc>
                      <a:txBody>
                        <a:bodyPr/>
                        <a:lstStyle/>
                        <a:p>
                          <a:pPr algn="ctr"/>
                          <a:r>
                            <a:rPr lang="en-US" sz="1400" b="1" dirty="0">
                              <a:solidFill>
                                <a:srgbClr val="000000"/>
                              </a:solidFill>
                            </a:rPr>
                            <a:t>Market Cap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102000" r="-58956" b="-878000"/>
                          </a:stretch>
                        </a:blipFill>
                      </a:tcPr>
                    </a:tc>
                    <a:tc>
                      <a:txBody>
                        <a:bodyPr/>
                        <a:lstStyle/>
                        <a:p>
                          <a:endParaRPr lang="en-US"/>
                        </a:p>
                      </a:txBody>
                      <a:tcPr anchor="ctr">
                        <a:blipFill>
                          <a:blip r:embed="rId2"/>
                          <a:stretch>
                            <a:fillRect l="-259146" t="-102000" r="-1016" b="-878000"/>
                          </a:stretch>
                        </a:blipFill>
                      </a:tcPr>
                    </a:tc>
                    <a:extLst>
                      <a:ext uri="{0D108BD9-81ED-4DB2-BD59-A6C34878D82A}">
                        <a16:rowId xmlns:a16="http://schemas.microsoft.com/office/drawing/2014/main" val="2839142299"/>
                      </a:ext>
                    </a:extLst>
                  </a:tr>
                  <a:tr h="518160">
                    <a:tc>
                      <a:txBody>
                        <a:bodyPr/>
                        <a:lstStyle/>
                        <a:p>
                          <a:pPr algn="ctr"/>
                          <a:r>
                            <a:rPr lang="en-US" sz="1400" b="1" dirty="0">
                              <a:solidFill>
                                <a:srgbClr val="000000"/>
                              </a:solidFill>
                            </a:rPr>
                            <a:t>Bitcoin Price (USD)</a:t>
                          </a:r>
                          <a:endParaRPr lang="en-AU" sz="1400" b="1" dirty="0">
                            <a:solidFill>
                              <a:srgbClr val="000000"/>
                            </a:solidFill>
                          </a:endParaRPr>
                        </a:p>
                      </a:txBody>
                      <a:tcPr anchor="ctr">
                        <a:solidFill>
                          <a:srgbClr val="FC848D"/>
                        </a:solidFill>
                      </a:tcPr>
                    </a:tc>
                    <a:tc>
                      <a:txBody>
                        <a:bodyPr/>
                        <a:lstStyle/>
                        <a:p>
                          <a:pPr algn="ctr"/>
                          <a:r>
                            <a:rPr lang="en-US" sz="1400" dirty="0">
                              <a:solidFill>
                                <a:srgbClr val="000000"/>
                              </a:solidFill>
                            </a:rPr>
                            <a:t>N/A</a:t>
                          </a:r>
                          <a:endParaRPr lang="en-AU" sz="1400" dirty="0">
                            <a:solidFill>
                              <a:srgbClr val="000000"/>
                            </a:solidFill>
                          </a:endParaRPr>
                        </a:p>
                      </a:txBody>
                      <a:tcPr anchor="ctr">
                        <a:solidFill>
                          <a:srgbClr val="FC848D"/>
                        </a:solidFill>
                      </a:tcPr>
                    </a:tc>
                    <a:tc>
                      <a:txBody>
                        <a:bodyPr/>
                        <a:lstStyle/>
                        <a:p>
                          <a:endParaRPr lang="en-US"/>
                        </a:p>
                      </a:txBody>
                      <a:tcPr anchor="ctr">
                        <a:blipFill>
                          <a:blip r:embed="rId2"/>
                          <a:stretch>
                            <a:fillRect l="-51246" t="-118824" r="-58956" b="-41647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BTCPriceUSD</a:t>
                          </a:r>
                          <a:endParaRPr lang="en-US" sz="1400" i="1" dirty="0">
                            <a:solidFill>
                              <a:srgbClr val="00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1" dirty="0">
                              <a:solidFill>
                                <a:srgbClr val="FF0000"/>
                              </a:solidFill>
                            </a:rPr>
                            <a:t>(Intermediate calculation)</a:t>
                          </a:r>
                          <a:endParaRPr lang="en-AU" sz="1400" b="0" i="1" dirty="0">
                            <a:solidFill>
                              <a:srgbClr val="FF0000"/>
                            </a:solidFill>
                          </a:endParaRPr>
                        </a:p>
                      </a:txBody>
                      <a:tcPr anchor="ctr">
                        <a:solidFill>
                          <a:srgbClr val="FC848D"/>
                        </a:solidFill>
                      </a:tcPr>
                    </a:tc>
                    <a:extLst>
                      <a:ext uri="{0D108BD9-81ED-4DB2-BD59-A6C34878D82A}">
                        <a16:rowId xmlns:a16="http://schemas.microsoft.com/office/drawing/2014/main" val="1905415424"/>
                      </a:ext>
                    </a:extLst>
                  </a:tr>
                  <a:tr h="621538">
                    <a:tc>
                      <a:txBody>
                        <a:bodyPr/>
                        <a:lstStyle/>
                        <a:p>
                          <a:pPr algn="ctr"/>
                          <a:r>
                            <a:rPr lang="en-US" sz="1400" b="1" dirty="0">
                              <a:solidFill>
                                <a:srgbClr val="000000"/>
                              </a:solidFill>
                            </a:rPr>
                            <a:t>Total (BTC)</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endParaRPr lang="en-US"/>
                        </a:p>
                      </a:txBody>
                      <a:tcPr anchor="ctr">
                        <a:blipFill>
                          <a:blip r:embed="rId2"/>
                          <a:stretch>
                            <a:fillRect l="-51246" t="-180583" r="-58956" b="-243689"/>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SubsidyCapBTC</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1124067287"/>
                      </a:ext>
                    </a:extLst>
                  </a:tr>
                  <a:tr h="505587">
                    <a:tc>
                      <a:txBody>
                        <a:bodyPr/>
                        <a:lstStyle/>
                        <a:p>
                          <a:pPr algn="ctr"/>
                          <a:r>
                            <a:rPr lang="en-US" sz="1400" b="1" dirty="0">
                              <a:solidFill>
                                <a:srgbClr val="000000"/>
                              </a:solidFill>
                            </a:rPr>
                            <a:t>PoW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348193" r="-58956" b="-202410"/>
                          </a:stretch>
                        </a:blipFill>
                      </a:tcPr>
                    </a:tc>
                    <a:tc>
                      <a:txBody>
                        <a:bodyPr/>
                        <a:lstStyle/>
                        <a:p>
                          <a:pPr algn="ctr"/>
                          <a:r>
                            <a:rPr lang="en-US" sz="1400" i="1" dirty="0" err="1">
                              <a:solidFill>
                                <a:srgbClr val="000000"/>
                              </a:solidFill>
                            </a:rPr>
                            <a:t>SubsidyPoWCapBTC</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r h="505587">
                    <a:tc>
                      <a:txBody>
                        <a:bodyPr/>
                        <a:lstStyle/>
                        <a:p>
                          <a:pPr algn="ctr"/>
                          <a:r>
                            <a:rPr lang="en-US" sz="1400" b="1" dirty="0">
                              <a:solidFill>
                                <a:srgbClr val="000000"/>
                              </a:solidFill>
                            </a:rPr>
                            <a:t>PoS (BTC)</a:t>
                          </a:r>
                          <a:endParaRPr lang="en-AU" sz="1400" b="1" dirty="0">
                            <a:solidFill>
                              <a:srgbClr val="000000"/>
                            </a:solidFill>
                          </a:endParaRPr>
                        </a:p>
                      </a:txBody>
                      <a:tcPr anchor="ctr">
                        <a:solidFill>
                          <a:srgbClr val="EBEBEC"/>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EBEBEC"/>
                        </a:solidFill>
                      </a:tcPr>
                    </a:tc>
                    <a:tc>
                      <a:txBody>
                        <a:bodyPr/>
                        <a:lstStyle/>
                        <a:p>
                          <a:endParaRPr lang="en-US"/>
                        </a:p>
                      </a:txBody>
                      <a:tcPr anchor="ctr">
                        <a:blipFill>
                          <a:blip r:embed="rId2"/>
                          <a:stretch>
                            <a:fillRect l="-51246" t="-448193" r="-58956" b="-10241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SubsidyPoSCapBTC</a:t>
                          </a:r>
                          <a:endParaRPr lang="en-AU" sz="1400" i="1" dirty="0">
                            <a:solidFill>
                              <a:srgbClr val="000000"/>
                            </a:solidFill>
                          </a:endParaRPr>
                        </a:p>
                      </a:txBody>
                      <a:tcPr anchor="ctr">
                        <a:solidFill>
                          <a:srgbClr val="EBEBEC"/>
                        </a:solidFill>
                      </a:tcPr>
                    </a:tc>
                    <a:extLst>
                      <a:ext uri="{0D108BD9-81ED-4DB2-BD59-A6C34878D82A}">
                        <a16:rowId xmlns:a16="http://schemas.microsoft.com/office/drawing/2014/main" val="3242739052"/>
                      </a:ext>
                    </a:extLst>
                  </a:tr>
                  <a:tr h="505587">
                    <a:tc>
                      <a:txBody>
                        <a:bodyPr/>
                        <a:lstStyle/>
                        <a:p>
                          <a:pPr algn="ctr"/>
                          <a:r>
                            <a:rPr lang="en-US" sz="1400" b="1" dirty="0">
                              <a:solidFill>
                                <a:srgbClr val="000000"/>
                              </a:solidFill>
                            </a:rPr>
                            <a:t>Treasury (BTC)</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548193" r="-58956" b="-2410"/>
                          </a:stretch>
                        </a:blipFill>
                      </a:tcPr>
                    </a:tc>
                    <a:tc>
                      <a:txBody>
                        <a:bodyPr/>
                        <a:lstStyle/>
                        <a:p>
                          <a:pPr algn="ctr"/>
                          <a:r>
                            <a:rPr lang="en-US" sz="1400" i="1" dirty="0" err="1">
                              <a:solidFill>
                                <a:srgbClr val="000000"/>
                              </a:solidFill>
                            </a:rPr>
                            <a:t>SubsidyFundCapBTC</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655338044"/>
                      </a:ext>
                    </a:extLst>
                  </a:tr>
                </a:tbl>
              </a:graphicData>
            </a:graphic>
          </p:graphicFrame>
        </mc:Fallback>
      </mc:AlternateContent>
      <p:sp>
        <p:nvSpPr>
          <p:cNvPr id="6" name="TextBox 5">
            <a:extLst>
              <a:ext uri="{FF2B5EF4-FFF2-40B4-BE49-F238E27FC236}">
                <a16:creationId xmlns:a16="http://schemas.microsoft.com/office/drawing/2014/main" id="{9DFCA9C6-A741-451F-B191-BFF7F22F8DFA}"/>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#03</a:t>
            </a:r>
            <a:endParaRPr lang="en-AU" b="1" dirty="0">
              <a:solidFill>
                <a:srgbClr val="091440"/>
              </a:solidFill>
            </a:endParaRPr>
          </a:p>
        </p:txBody>
      </p:sp>
    </p:spTree>
    <p:extLst>
      <p:ext uri="{BB962C8B-B14F-4D97-AF65-F5344CB8AC3E}">
        <p14:creationId xmlns:p14="http://schemas.microsoft.com/office/powerpoint/2010/main" val="787522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A253268C-8F81-4FBD-85EA-ACC818B3EFD6}"/>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#03</a:t>
            </a:r>
            <a:endParaRPr lang="en-AU" b="1" dirty="0">
              <a:solidFill>
                <a:schemeClr val="bg1"/>
              </a:solidFill>
            </a:endParaRPr>
          </a:p>
        </p:txBody>
      </p:sp>
      <p:pic>
        <p:nvPicPr>
          <p:cNvPr id="2" name="Picture 1">
            <a:extLst>
              <a:ext uri="{FF2B5EF4-FFF2-40B4-BE49-F238E27FC236}">
                <a16:creationId xmlns:a16="http://schemas.microsoft.com/office/drawing/2014/main" id="{46B26075-D41D-4ADD-A158-519FFA97F0C1}"/>
              </a:ext>
            </a:extLst>
          </p:cNvPr>
          <p:cNvPicPr>
            <a:picLocks noChangeAspect="1"/>
          </p:cNvPicPr>
          <p:nvPr/>
        </p:nvPicPr>
        <p:blipFill rotWithShape="1">
          <a:blip r:embed="rId2"/>
          <a:srcRect r="22435"/>
          <a:stretch/>
        </p:blipFill>
        <p:spPr>
          <a:xfrm>
            <a:off x="0" y="783384"/>
            <a:ext cx="9384796" cy="5656992"/>
          </a:xfrm>
          <a:prstGeom prst="rect">
            <a:avLst/>
          </a:prstGeom>
        </p:spPr>
      </p:pic>
      <p:pic>
        <p:nvPicPr>
          <p:cNvPr id="7" name="Picture 6">
            <a:extLst>
              <a:ext uri="{FF2B5EF4-FFF2-40B4-BE49-F238E27FC236}">
                <a16:creationId xmlns:a16="http://schemas.microsoft.com/office/drawing/2014/main" id="{58EACABF-BD2A-4B30-9992-52C815AF53BC}"/>
              </a:ext>
            </a:extLst>
          </p:cNvPr>
          <p:cNvPicPr>
            <a:picLocks noChangeAspect="1"/>
          </p:cNvPicPr>
          <p:nvPr/>
        </p:nvPicPr>
        <p:blipFill rotWithShape="1">
          <a:blip r:embed="rId2"/>
          <a:srcRect l="83653" t="33312" b="50812"/>
          <a:stretch/>
        </p:blipFill>
        <p:spPr>
          <a:xfrm>
            <a:off x="9455084" y="2714919"/>
            <a:ext cx="1847654" cy="838985"/>
          </a:xfrm>
          <a:prstGeom prst="rect">
            <a:avLst/>
          </a:prstGeom>
        </p:spPr>
      </p:pic>
      <p:pic>
        <p:nvPicPr>
          <p:cNvPr id="8" name="Picture 7">
            <a:extLst>
              <a:ext uri="{FF2B5EF4-FFF2-40B4-BE49-F238E27FC236}">
                <a16:creationId xmlns:a16="http://schemas.microsoft.com/office/drawing/2014/main" id="{CA3F1588-A1AA-4C2E-A48D-E8547A114FE0}"/>
              </a:ext>
            </a:extLst>
          </p:cNvPr>
          <p:cNvPicPr>
            <a:picLocks noChangeAspect="1"/>
          </p:cNvPicPr>
          <p:nvPr/>
        </p:nvPicPr>
        <p:blipFill rotWithShape="1">
          <a:blip r:embed="rId2"/>
          <a:srcRect l="83653" t="52548" b="42963"/>
          <a:stretch/>
        </p:blipFill>
        <p:spPr>
          <a:xfrm>
            <a:off x="9455084" y="3553904"/>
            <a:ext cx="1847654" cy="237241"/>
          </a:xfrm>
          <a:prstGeom prst="rect">
            <a:avLst/>
          </a:prstGeom>
        </p:spPr>
      </p:pic>
    </p:spTree>
    <p:extLst>
      <p:ext uri="{BB962C8B-B14F-4D97-AF65-F5344CB8AC3E}">
        <p14:creationId xmlns:p14="http://schemas.microsoft.com/office/powerpoint/2010/main" val="1972843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Difficulty Ribbon</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The difficulty ribbon was developed by Willy Woo (@</a:t>
            </a:r>
            <a:r>
              <a:rPr lang="en-US" sz="1400" dirty="0" err="1"/>
              <a:t>woonomic</a:t>
            </a:r>
            <a:r>
              <a:rPr lang="en-US" sz="1400" dirty="0"/>
              <a:t>) as a series of moving averages applied to protocol mining difficulty. During periods of hash-rate expansion, the ribbon will trend higher </a:t>
            </a:r>
          </a:p>
        </p:txBody>
      </p:sp>
      <mc:AlternateContent xmlns:mc="http://schemas.openxmlformats.org/markup-compatibility/2006">
        <mc:Choice xmlns:a14="http://schemas.microsoft.com/office/drawing/2010/main" Requires="a14">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1787008059"/>
                  </p:ext>
                </p:extLst>
              </p:nvPr>
            </p:nvGraphicFramePr>
            <p:xfrm>
              <a:off x="194239" y="3070025"/>
              <a:ext cx="10760273" cy="143256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r>
                            <a:rPr lang="en-US" sz="1400" b="1" dirty="0">
                              <a:solidFill>
                                <a:srgbClr val="000000"/>
                              </a:solidFill>
                            </a:rPr>
                            <a:t>Market Cap</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𝑆𝑝𝑙𝑦𝐶𝑢𝑟</m:t>
                                </m:r>
                                <m:r>
                                  <a:rPr lang="en-US" sz="1400" b="0" i="1" smtClean="0">
                                    <a:solidFill>
                                      <a:srgbClr val="000000"/>
                                    </a:solidFill>
                                    <a:latin typeface="Cambria Math" panose="02040503050406030204" pitchFamily="18" charset="0"/>
                                  </a:rPr>
                                  <m:t>∗</m:t>
                                </m:r>
                                <m:r>
                                  <a:rPr lang="en-US" sz="1400" b="0" i="1" smtClean="0">
                                    <a:solidFill>
                                      <a:srgbClr val="000000"/>
                                    </a:solidFill>
                                    <a:latin typeface="Cambria Math" panose="02040503050406030204" pitchFamily="18" charset="0"/>
                                  </a:rPr>
                                  <m:t>𝑃𝑟𝑖𝑐𝑒𝑈𝑆𝐷</m:t>
                                </m:r>
                              </m:oMath>
                            </m:oMathPara>
                          </a14:m>
                          <a:endParaRPr lang="en-AU" sz="1400" dirty="0">
                            <a:solidFill>
                              <a:srgbClr val="000000"/>
                            </a:solidFill>
                          </a:endParaRPr>
                        </a:p>
                      </a:txBody>
                      <a:tcPr anchor="ctr">
                        <a:solidFill>
                          <a:srgbClr val="C0CAF6"/>
                        </a:solidFill>
                      </a:tcPr>
                    </a:tc>
                    <a:tc>
                      <a:txBody>
                        <a:bodyPr/>
                        <a:lstStyle/>
                        <a:p>
                          <a:pPr algn="ctr"/>
                          <a:r>
                            <a:rPr lang="en-US" sz="1400" i="1" dirty="0" err="1">
                              <a:solidFill>
                                <a:srgbClr val="000000"/>
                              </a:solidFill>
                            </a:rPr>
                            <a:t>CapMrktCurUSD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r>
                            <a:rPr lang="en-US" sz="1400" b="1" dirty="0">
                              <a:solidFill>
                                <a:srgbClr val="000000"/>
                              </a:solidFill>
                            </a:rPr>
                            <a:t>Difficulty</a:t>
                          </a:r>
                          <a:endParaRPr lang="en-AU" sz="1400" b="1" dirty="0">
                            <a:solidFill>
                              <a:srgbClr val="000000"/>
                            </a:solidFill>
                          </a:endParaRPr>
                        </a:p>
                      </a:txBody>
                      <a:tcPr anchor="ctr"/>
                    </a:tc>
                    <a:tc>
                      <a:txBody>
                        <a:bodyPr/>
                        <a:lstStyle/>
                        <a:p>
                          <a:pPr algn="ctr"/>
                          <a:r>
                            <a:rPr lang="en-US" sz="1400" dirty="0">
                              <a:solidFill>
                                <a:srgbClr val="000000"/>
                              </a:solidFill>
                            </a:rPr>
                            <a:t>Right</a:t>
                          </a:r>
                          <a:endParaRPr lang="en-AU" sz="1400" dirty="0">
                            <a:solidFill>
                              <a:srgbClr val="00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𝐷𝑖𝑓𝑓𝑀𝑒𝑎𝑛</m:t>
                                </m:r>
                              </m:oMath>
                            </m:oMathPara>
                          </a14:m>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DiffMean</a:t>
                          </a:r>
                          <a:endParaRPr lang="en-AU" sz="1400" i="1"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r>
                            <a:rPr lang="en-US" sz="1400" b="1" dirty="0">
                              <a:solidFill>
                                <a:srgbClr val="000000"/>
                              </a:solidFill>
                            </a:rPr>
                            <a:t>Difficulty Ribbon</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Right</a:t>
                          </a:r>
                          <a:endParaRPr lang="en-AU" sz="1400" dirty="0">
                            <a:solidFill>
                              <a:srgbClr val="000000"/>
                            </a:solidFill>
                          </a:endParaRPr>
                        </a:p>
                      </a:txBody>
                      <a:tcPr anchor="ctr">
                        <a:solidFill>
                          <a:srgbClr val="C0CAF6"/>
                        </a:solidFill>
                      </a:tcPr>
                    </a:tc>
                    <a:tc>
                      <a:txBody>
                        <a:bodyPr/>
                        <a:lstStyle/>
                        <a:p>
                          <a:pPr algn="ctr"/>
                          <a14:m>
                            <m:oMathPara xmlns:m="http://schemas.openxmlformats.org/officeDocument/2006/math">
                              <m:oMathParaPr>
                                <m:jc m:val="centerGroup"/>
                              </m:oMathParaPr>
                              <m:oMath xmlns:m="http://schemas.openxmlformats.org/officeDocument/2006/math">
                                <m:r>
                                  <a:rPr lang="en-US" sz="1400" b="0" i="1" smtClean="0">
                                    <a:solidFill>
                                      <a:srgbClr val="000000"/>
                                    </a:solidFill>
                                    <a:latin typeface="Cambria Math" panose="02040503050406030204" pitchFamily="18" charset="0"/>
                                  </a:rPr>
                                  <m:t>𝑆𝑀𝐴</m:t>
                                </m:r>
                                <m:d>
                                  <m:dPr>
                                    <m:ctrlPr>
                                      <a:rPr lang="en-US" sz="1400" b="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𝐷𝑖𝑓𝑓𝑀𝑒𝑎𝑛</m:t>
                                    </m:r>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𝑝𝑒𝑟𝑖𝑜𝑑</m:t>
                                    </m:r>
                                  </m:e>
                                </m:d>
                              </m:oMath>
                            </m:oMathPara>
                          </a14:m>
                          <a:endParaRPr lang="en-US" sz="1400" b="0" dirty="0">
                            <a:solidFill>
                              <a:srgbClr val="000000"/>
                            </a:solidFill>
                          </a:endParaRPr>
                        </a:p>
                        <a:p>
                          <a:pPr algn="ctr"/>
                          <a:r>
                            <a:rPr lang="en-AU" sz="1400" dirty="0">
                              <a:solidFill>
                                <a:srgbClr val="000000"/>
                              </a:solidFill>
                            </a:rPr>
                            <a:t>Period = 9, 14, 25, 40, 60, 90, 128, 200 days</a:t>
                          </a:r>
                        </a:p>
                      </a:txBody>
                      <a:tcPr anchor="ctr">
                        <a:solidFill>
                          <a:srgbClr val="C0CAF6"/>
                        </a:solidFill>
                      </a:tcPr>
                    </a:tc>
                    <a:tc>
                      <a:txBody>
                        <a:bodyPr/>
                        <a:lstStyle/>
                        <a:p>
                          <a:pPr algn="ctr"/>
                          <a:r>
                            <a:rPr lang="en-US" sz="1400" i="1" dirty="0" err="1">
                              <a:solidFill>
                                <a:srgbClr val="000000"/>
                              </a:solidFill>
                            </a:rPr>
                            <a:t>D_period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mc:Choice>
        <mc:Fallback>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1787008059"/>
                  </p:ext>
                </p:extLst>
              </p:nvPr>
            </p:nvGraphicFramePr>
            <p:xfrm>
              <a:off x="194239" y="3070025"/>
              <a:ext cx="10760273" cy="143256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304800">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304800">
                    <a:tc>
                      <a:txBody>
                        <a:bodyPr/>
                        <a:lstStyle/>
                        <a:p>
                          <a:pPr algn="ctr"/>
                          <a:r>
                            <a:rPr lang="en-US" sz="1400" b="1" dirty="0">
                              <a:solidFill>
                                <a:srgbClr val="000000"/>
                              </a:solidFill>
                            </a:rPr>
                            <a:t>Market Cap</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Left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102000" r="-58956" b="-292000"/>
                          </a:stretch>
                        </a:blipFill>
                      </a:tcPr>
                    </a:tc>
                    <a:tc>
                      <a:txBody>
                        <a:bodyPr/>
                        <a:lstStyle/>
                        <a:p>
                          <a:pPr algn="ctr"/>
                          <a:r>
                            <a:rPr lang="en-US" sz="1400" i="1" dirty="0" err="1">
                              <a:solidFill>
                                <a:srgbClr val="000000"/>
                              </a:solidFill>
                            </a:rPr>
                            <a:t>CapMrktCurUSD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304800">
                    <a:tc>
                      <a:txBody>
                        <a:bodyPr/>
                        <a:lstStyle/>
                        <a:p>
                          <a:pPr algn="ctr"/>
                          <a:r>
                            <a:rPr lang="en-US" sz="1400" b="1" dirty="0">
                              <a:solidFill>
                                <a:srgbClr val="000000"/>
                              </a:solidFill>
                            </a:rPr>
                            <a:t>Difficulty</a:t>
                          </a:r>
                          <a:endParaRPr lang="en-AU" sz="1400" b="1" dirty="0">
                            <a:solidFill>
                              <a:srgbClr val="000000"/>
                            </a:solidFill>
                          </a:endParaRPr>
                        </a:p>
                      </a:txBody>
                      <a:tcPr anchor="ctr"/>
                    </a:tc>
                    <a:tc>
                      <a:txBody>
                        <a:bodyPr/>
                        <a:lstStyle/>
                        <a:p>
                          <a:pPr algn="ctr"/>
                          <a:r>
                            <a:rPr lang="en-US" sz="1400" dirty="0">
                              <a:solidFill>
                                <a:srgbClr val="000000"/>
                              </a:solidFill>
                            </a:rPr>
                            <a:t>Right</a:t>
                          </a:r>
                          <a:endParaRPr lang="en-AU" sz="1400" dirty="0">
                            <a:solidFill>
                              <a:srgbClr val="000000"/>
                            </a:solidFill>
                          </a:endParaRPr>
                        </a:p>
                      </a:txBody>
                      <a:tcPr anchor="ctr"/>
                    </a:tc>
                    <a:tc>
                      <a:txBody>
                        <a:bodyPr/>
                        <a:lstStyle/>
                        <a:p>
                          <a:endParaRPr lang="en-US"/>
                        </a:p>
                      </a:txBody>
                      <a:tcPr anchor="ctr">
                        <a:blipFill>
                          <a:blip r:embed="rId2"/>
                          <a:stretch>
                            <a:fillRect l="-51246" t="-198039" r="-58956" b="-186275"/>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err="1">
                              <a:solidFill>
                                <a:srgbClr val="000000"/>
                              </a:solidFill>
                            </a:rPr>
                            <a:t>DiffMean</a:t>
                          </a:r>
                          <a:endParaRPr lang="en-AU" sz="1400" i="1" dirty="0">
                            <a:solidFill>
                              <a:srgbClr val="000000"/>
                            </a:solidFill>
                          </a:endParaRPr>
                        </a:p>
                      </a:txBody>
                      <a:tcPr anchor="ctr"/>
                    </a:tc>
                    <a:extLst>
                      <a:ext uri="{0D108BD9-81ED-4DB2-BD59-A6C34878D82A}">
                        <a16:rowId xmlns:a16="http://schemas.microsoft.com/office/drawing/2014/main" val="1124067287"/>
                      </a:ext>
                    </a:extLst>
                  </a:tr>
                  <a:tr h="518160">
                    <a:tc>
                      <a:txBody>
                        <a:bodyPr/>
                        <a:lstStyle/>
                        <a:p>
                          <a:pPr algn="ctr"/>
                          <a:r>
                            <a:rPr lang="en-US" sz="1400" b="1" dirty="0">
                              <a:solidFill>
                                <a:srgbClr val="000000"/>
                              </a:solidFill>
                            </a:rPr>
                            <a:t>Difficulty Ribbon</a:t>
                          </a:r>
                          <a:endParaRPr lang="en-AU" sz="1400" b="1" dirty="0">
                            <a:solidFill>
                              <a:srgbClr val="000000"/>
                            </a:solidFill>
                          </a:endParaRPr>
                        </a:p>
                      </a:txBody>
                      <a:tcPr anchor="ctr">
                        <a:solidFill>
                          <a:srgbClr val="C0CAF6"/>
                        </a:solidFill>
                      </a:tcPr>
                    </a:tc>
                    <a:tc>
                      <a:txBody>
                        <a:bodyPr/>
                        <a:lstStyle/>
                        <a:p>
                          <a:pPr algn="ctr"/>
                          <a:r>
                            <a:rPr lang="en-US" sz="1400" dirty="0">
                              <a:solidFill>
                                <a:srgbClr val="000000"/>
                              </a:solidFill>
                            </a:rPr>
                            <a:t>Right</a:t>
                          </a:r>
                          <a:endParaRPr lang="en-AU" sz="1400" dirty="0">
                            <a:solidFill>
                              <a:srgbClr val="000000"/>
                            </a:solidFill>
                          </a:endParaRPr>
                        </a:p>
                      </a:txBody>
                      <a:tcPr anchor="ctr">
                        <a:solidFill>
                          <a:srgbClr val="C0CAF6"/>
                        </a:solidFill>
                      </a:tcPr>
                    </a:tc>
                    <a:tc>
                      <a:txBody>
                        <a:bodyPr/>
                        <a:lstStyle/>
                        <a:p>
                          <a:endParaRPr lang="en-US"/>
                        </a:p>
                      </a:txBody>
                      <a:tcPr anchor="ctr">
                        <a:blipFill>
                          <a:blip r:embed="rId2"/>
                          <a:stretch>
                            <a:fillRect l="-51246" t="-178824" r="-58956" b="-11765"/>
                          </a:stretch>
                        </a:blipFill>
                      </a:tcPr>
                    </a:tc>
                    <a:tc>
                      <a:txBody>
                        <a:bodyPr/>
                        <a:lstStyle/>
                        <a:p>
                          <a:pPr algn="ctr"/>
                          <a:r>
                            <a:rPr lang="en-US" sz="1400" i="1" dirty="0" err="1">
                              <a:solidFill>
                                <a:srgbClr val="000000"/>
                              </a:solidFill>
                            </a:rPr>
                            <a:t>D_period</a:t>
                          </a:r>
                          <a:endParaRPr lang="en-AU" sz="1400" i="1"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mc:Fallback>
      </mc:AlternateContent>
      <p:sp>
        <p:nvSpPr>
          <p:cNvPr id="5" name="TextBox 4">
            <a:extLst>
              <a:ext uri="{FF2B5EF4-FFF2-40B4-BE49-F238E27FC236}">
                <a16:creationId xmlns:a16="http://schemas.microsoft.com/office/drawing/2014/main" id="{D5FFF152-16E3-4933-84B5-9E403DF52F38}"/>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#04</a:t>
            </a:r>
            <a:endParaRPr lang="en-AU" b="1" dirty="0">
              <a:solidFill>
                <a:srgbClr val="091440"/>
              </a:solidFill>
            </a:endParaRPr>
          </a:p>
        </p:txBody>
      </p:sp>
    </p:spTree>
    <p:extLst>
      <p:ext uri="{BB962C8B-B14F-4D97-AF65-F5344CB8AC3E}">
        <p14:creationId xmlns:p14="http://schemas.microsoft.com/office/powerpoint/2010/main" val="1669664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75B31D92-AF36-4C56-B306-5535AA4E0FAE}"/>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#04</a:t>
            </a:r>
            <a:endParaRPr lang="en-AU" b="1" dirty="0">
              <a:solidFill>
                <a:schemeClr val="bg1"/>
              </a:solidFill>
            </a:endParaRPr>
          </a:p>
        </p:txBody>
      </p:sp>
      <p:grpSp>
        <p:nvGrpSpPr>
          <p:cNvPr id="8" name="Group 7">
            <a:extLst>
              <a:ext uri="{FF2B5EF4-FFF2-40B4-BE49-F238E27FC236}">
                <a16:creationId xmlns:a16="http://schemas.microsoft.com/office/drawing/2014/main" id="{1AE31ACD-BFC5-4E65-9E4A-DC3048AB6233}"/>
              </a:ext>
            </a:extLst>
          </p:cNvPr>
          <p:cNvGrpSpPr/>
          <p:nvPr/>
        </p:nvGrpSpPr>
        <p:grpSpPr>
          <a:xfrm>
            <a:off x="0" y="621165"/>
            <a:ext cx="11302738" cy="5206073"/>
            <a:chOff x="0" y="621165"/>
            <a:chExt cx="11302738" cy="5206073"/>
          </a:xfrm>
        </p:grpSpPr>
        <p:grpSp>
          <p:nvGrpSpPr>
            <p:cNvPr id="4" name="Group 3">
              <a:extLst>
                <a:ext uri="{FF2B5EF4-FFF2-40B4-BE49-F238E27FC236}">
                  <a16:creationId xmlns:a16="http://schemas.microsoft.com/office/drawing/2014/main" id="{47ECF809-5DA2-4933-BD4E-AA9FF4D0355D}"/>
                </a:ext>
              </a:extLst>
            </p:cNvPr>
            <p:cNvGrpSpPr/>
            <p:nvPr/>
          </p:nvGrpSpPr>
          <p:grpSpPr>
            <a:xfrm>
              <a:off x="0" y="621165"/>
              <a:ext cx="11302738" cy="5206073"/>
              <a:chOff x="0" y="621165"/>
              <a:chExt cx="11302738" cy="5206073"/>
            </a:xfrm>
          </p:grpSpPr>
          <p:pic>
            <p:nvPicPr>
              <p:cNvPr id="2" name="Picture 1">
                <a:extLst>
                  <a:ext uri="{FF2B5EF4-FFF2-40B4-BE49-F238E27FC236}">
                    <a16:creationId xmlns:a16="http://schemas.microsoft.com/office/drawing/2014/main" id="{993F6480-592B-4207-8CD6-0CDB6CA9CD3E}"/>
                  </a:ext>
                </a:extLst>
              </p:cNvPr>
              <p:cNvPicPr>
                <a:picLocks noChangeAspect="1"/>
              </p:cNvPicPr>
              <p:nvPr/>
            </p:nvPicPr>
            <p:blipFill>
              <a:blip r:embed="rId2"/>
              <a:stretch>
                <a:fillRect/>
              </a:stretch>
            </p:blipFill>
            <p:spPr>
              <a:xfrm>
                <a:off x="0" y="621165"/>
                <a:ext cx="11302738" cy="5206073"/>
              </a:xfrm>
              <a:prstGeom prst="rect">
                <a:avLst/>
              </a:prstGeom>
            </p:spPr>
          </p:pic>
          <p:sp>
            <p:nvSpPr>
              <p:cNvPr id="7" name="Rectangle 6">
                <a:extLst>
                  <a:ext uri="{FF2B5EF4-FFF2-40B4-BE49-F238E27FC236}">
                    <a16:creationId xmlns:a16="http://schemas.microsoft.com/office/drawing/2014/main" id="{DEF88020-B00F-4A65-AA1E-46CF432389B9}"/>
                  </a:ext>
                </a:extLst>
              </p:cNvPr>
              <p:cNvSpPr/>
              <p:nvPr/>
            </p:nvSpPr>
            <p:spPr>
              <a:xfrm>
                <a:off x="9944469" y="3027685"/>
                <a:ext cx="1358269" cy="2326103"/>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5" name="Picture 4">
              <a:extLst>
                <a:ext uri="{FF2B5EF4-FFF2-40B4-BE49-F238E27FC236}">
                  <a16:creationId xmlns:a16="http://schemas.microsoft.com/office/drawing/2014/main" id="{D9A1D7EC-DBFB-4799-A5DC-3825D6C31BD2}"/>
                </a:ext>
              </a:extLst>
            </p:cNvPr>
            <p:cNvPicPr>
              <a:picLocks noChangeAspect="1"/>
            </p:cNvPicPr>
            <p:nvPr/>
          </p:nvPicPr>
          <p:blipFill rotWithShape="1">
            <a:blip r:embed="rId2"/>
            <a:srcRect l="88912" t="42296" b="22406"/>
            <a:stretch/>
          </p:blipFill>
          <p:spPr>
            <a:xfrm>
              <a:off x="10049522" y="1837677"/>
              <a:ext cx="1253216" cy="1837678"/>
            </a:xfrm>
            <a:prstGeom prst="rect">
              <a:avLst/>
            </a:prstGeom>
          </p:spPr>
        </p:pic>
      </p:grpSp>
    </p:spTree>
    <p:extLst>
      <p:ext uri="{BB962C8B-B14F-4D97-AF65-F5344CB8AC3E}">
        <p14:creationId xmlns:p14="http://schemas.microsoft.com/office/powerpoint/2010/main" val="1921202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X</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Desc</a:t>
            </a:r>
          </a:p>
          <a:p>
            <a:r>
              <a:rPr lang="en-US" sz="1400" b="1" dirty="0"/>
              <a:t>Note – </a:t>
            </a:r>
            <a:endParaRPr lang="en-AU" sz="1400" b="1" dirty="0"/>
          </a:p>
        </p:txBody>
      </p:sp>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178261645"/>
              </p:ext>
            </p:extLst>
          </p:nvPr>
        </p:nvGraphicFramePr>
        <p:xfrm>
          <a:off x="194239" y="3070025"/>
          <a:ext cx="10760273" cy="121920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endParaRPr lang="en-AU" sz="1400" b="1"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p:sp>
        <p:nvSpPr>
          <p:cNvPr id="5" name="TextBox 4">
            <a:extLst>
              <a:ext uri="{FF2B5EF4-FFF2-40B4-BE49-F238E27FC236}">
                <a16:creationId xmlns:a16="http://schemas.microsoft.com/office/drawing/2014/main" id="{08DA4303-9A1E-43FD-B13E-1EFB1BD013EE}"/>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#05</a:t>
            </a:r>
            <a:endParaRPr lang="en-AU" b="1" dirty="0">
              <a:solidFill>
                <a:srgbClr val="091440"/>
              </a:solidFill>
            </a:endParaRPr>
          </a:p>
        </p:txBody>
      </p:sp>
    </p:spTree>
    <p:extLst>
      <p:ext uri="{BB962C8B-B14F-4D97-AF65-F5344CB8AC3E}">
        <p14:creationId xmlns:p14="http://schemas.microsoft.com/office/powerpoint/2010/main" val="1158237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C48EA7A9-7A5E-4572-BE77-985CC67813E0}"/>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a:t>
            </a:r>
            <a:r>
              <a:rPr lang="en-US" b="1">
                <a:solidFill>
                  <a:schemeClr val="bg1"/>
                </a:solidFill>
              </a:rPr>
              <a:t>#05</a:t>
            </a:r>
            <a:endParaRPr lang="en-AU" b="1" dirty="0">
              <a:solidFill>
                <a:schemeClr val="bg1"/>
              </a:solidFill>
            </a:endParaRPr>
          </a:p>
        </p:txBody>
      </p:sp>
    </p:spTree>
    <p:extLst>
      <p:ext uri="{BB962C8B-B14F-4D97-AF65-F5344CB8AC3E}">
        <p14:creationId xmlns:p14="http://schemas.microsoft.com/office/powerpoint/2010/main" val="1089228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X</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Desc</a:t>
            </a:r>
          </a:p>
          <a:p>
            <a:r>
              <a:rPr lang="en-US" sz="1400" b="1" dirty="0"/>
              <a:t>Note – </a:t>
            </a:r>
            <a:endParaRPr lang="en-AU" sz="1400" b="1" dirty="0"/>
          </a:p>
        </p:txBody>
      </p:sp>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1533337495"/>
              </p:ext>
            </p:extLst>
          </p:nvPr>
        </p:nvGraphicFramePr>
        <p:xfrm>
          <a:off x="194239" y="3070025"/>
          <a:ext cx="10760273" cy="121920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endParaRPr lang="en-AU" sz="1400" b="1"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p:sp>
        <p:nvSpPr>
          <p:cNvPr id="5" name="TextBox 4">
            <a:extLst>
              <a:ext uri="{FF2B5EF4-FFF2-40B4-BE49-F238E27FC236}">
                <a16:creationId xmlns:a16="http://schemas.microsoft.com/office/drawing/2014/main" id="{46FE0CCC-2F2C-41FB-8EB2-9798649F02DE}"/>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#06</a:t>
            </a:r>
            <a:endParaRPr lang="en-AU" b="1" dirty="0">
              <a:solidFill>
                <a:srgbClr val="091440"/>
              </a:solidFill>
            </a:endParaRPr>
          </a:p>
        </p:txBody>
      </p:sp>
    </p:spTree>
    <p:extLst>
      <p:ext uri="{BB962C8B-B14F-4D97-AF65-F5344CB8AC3E}">
        <p14:creationId xmlns:p14="http://schemas.microsoft.com/office/powerpoint/2010/main" val="1342761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FFF45E24-B88C-4384-B6EF-F028E7957588}"/>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#06</a:t>
            </a:r>
            <a:endParaRPr lang="en-AU" b="1" dirty="0">
              <a:solidFill>
                <a:schemeClr val="bg1"/>
              </a:solidFill>
            </a:endParaRPr>
          </a:p>
        </p:txBody>
      </p:sp>
    </p:spTree>
    <p:extLst>
      <p:ext uri="{BB962C8B-B14F-4D97-AF65-F5344CB8AC3E}">
        <p14:creationId xmlns:p14="http://schemas.microsoft.com/office/powerpoint/2010/main" val="3456137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DF36-0128-424D-A898-6AEE9C7D6A8C}"/>
              </a:ext>
            </a:extLst>
          </p:cNvPr>
          <p:cNvSpPr>
            <a:spLocks noGrp="1"/>
          </p:cNvSpPr>
          <p:nvPr>
            <p:ph type="title"/>
          </p:nvPr>
        </p:nvSpPr>
        <p:spPr/>
        <p:txBody>
          <a:bodyPr/>
          <a:lstStyle/>
          <a:p>
            <a:r>
              <a:rPr lang="en-US" dirty="0"/>
              <a:t>X</a:t>
            </a:r>
            <a:endParaRPr lang="en-AU" dirty="0"/>
          </a:p>
        </p:txBody>
      </p:sp>
      <p:sp>
        <p:nvSpPr>
          <p:cNvPr id="3" name="Content Placeholder 2">
            <a:extLst>
              <a:ext uri="{FF2B5EF4-FFF2-40B4-BE49-F238E27FC236}">
                <a16:creationId xmlns:a16="http://schemas.microsoft.com/office/drawing/2014/main" id="{9F042C75-DAF1-4FD8-BA58-6AD54FEDDCB4}"/>
              </a:ext>
            </a:extLst>
          </p:cNvPr>
          <p:cNvSpPr>
            <a:spLocks noGrp="1"/>
          </p:cNvSpPr>
          <p:nvPr>
            <p:ph idx="1"/>
          </p:nvPr>
        </p:nvSpPr>
        <p:spPr>
          <a:xfrm>
            <a:off x="469900" y="1828800"/>
            <a:ext cx="10484612" cy="923827"/>
          </a:xfrm>
        </p:spPr>
        <p:txBody>
          <a:bodyPr>
            <a:noAutofit/>
          </a:bodyPr>
          <a:lstStyle/>
          <a:p>
            <a:r>
              <a:rPr lang="en-US" sz="1400" dirty="0"/>
              <a:t>Desc</a:t>
            </a:r>
          </a:p>
          <a:p>
            <a:r>
              <a:rPr lang="en-US" sz="1400" b="1" dirty="0"/>
              <a:t>Note – </a:t>
            </a:r>
            <a:endParaRPr lang="en-AU" sz="1400" b="1" dirty="0"/>
          </a:p>
        </p:txBody>
      </p:sp>
      <p:graphicFrame>
        <p:nvGraphicFramePr>
          <p:cNvPr id="4" name="Table 4">
            <a:extLst>
              <a:ext uri="{FF2B5EF4-FFF2-40B4-BE49-F238E27FC236}">
                <a16:creationId xmlns:a16="http://schemas.microsoft.com/office/drawing/2014/main" id="{87D8962A-526C-40F0-9EB2-4869D124ECF1}"/>
              </a:ext>
            </a:extLst>
          </p:cNvPr>
          <p:cNvGraphicFramePr>
            <a:graphicFrameLocks noGrp="1"/>
          </p:cNvGraphicFramePr>
          <p:nvPr>
            <p:extLst>
              <p:ext uri="{D42A27DB-BD31-4B8C-83A1-F6EECF244321}">
                <p14:modId xmlns:p14="http://schemas.microsoft.com/office/powerpoint/2010/main" val="2566908890"/>
              </p:ext>
            </p:extLst>
          </p:nvPr>
        </p:nvGraphicFramePr>
        <p:xfrm>
          <a:off x="194239" y="3070025"/>
          <a:ext cx="10760273" cy="1219200"/>
        </p:xfrm>
        <a:graphic>
          <a:graphicData uri="http://schemas.openxmlformats.org/drawingml/2006/table">
            <a:tbl>
              <a:tblPr firstRow="1" bandRow="1">
                <a:tableStyleId>{5C22544A-7EE6-4342-B048-85BDC9FD1C3A}</a:tableStyleId>
              </a:tblPr>
              <a:tblGrid>
                <a:gridCol w="1901854">
                  <a:extLst>
                    <a:ext uri="{9D8B030D-6E8A-4147-A177-3AD203B41FA5}">
                      <a16:colId xmlns:a16="http://schemas.microsoft.com/office/drawing/2014/main" val="3592528886"/>
                    </a:ext>
                  </a:extLst>
                </a:gridCol>
                <a:gridCol w="723894">
                  <a:extLst>
                    <a:ext uri="{9D8B030D-6E8A-4147-A177-3AD203B41FA5}">
                      <a16:colId xmlns:a16="http://schemas.microsoft.com/office/drawing/2014/main" val="35831559"/>
                    </a:ext>
                  </a:extLst>
                </a:gridCol>
                <a:gridCol w="5136801">
                  <a:extLst>
                    <a:ext uri="{9D8B030D-6E8A-4147-A177-3AD203B41FA5}">
                      <a16:colId xmlns:a16="http://schemas.microsoft.com/office/drawing/2014/main" val="1110526237"/>
                    </a:ext>
                  </a:extLst>
                </a:gridCol>
                <a:gridCol w="2997724">
                  <a:extLst>
                    <a:ext uri="{9D8B030D-6E8A-4147-A177-3AD203B41FA5}">
                      <a16:colId xmlns:a16="http://schemas.microsoft.com/office/drawing/2014/main" val="3582886717"/>
                    </a:ext>
                  </a:extLst>
                </a:gridCol>
              </a:tblGrid>
              <a:tr h="295881">
                <a:tc>
                  <a:txBody>
                    <a:bodyPr/>
                    <a:lstStyle/>
                    <a:p>
                      <a:pPr algn="ctr"/>
                      <a:r>
                        <a:rPr lang="en-US" sz="1400" dirty="0"/>
                        <a:t>Metric</a:t>
                      </a:r>
                      <a:endParaRPr lang="en-AU" sz="1400" dirty="0"/>
                    </a:p>
                  </a:txBody>
                  <a:tcPr>
                    <a:solidFill>
                      <a:srgbClr val="091440"/>
                    </a:solidFill>
                  </a:tcPr>
                </a:tc>
                <a:tc>
                  <a:txBody>
                    <a:bodyPr/>
                    <a:lstStyle/>
                    <a:p>
                      <a:pPr algn="ctr"/>
                      <a:r>
                        <a:rPr lang="en-US" sz="1400" dirty="0"/>
                        <a:t>Axis</a:t>
                      </a:r>
                      <a:endParaRPr lang="en-AU" sz="1400" dirty="0"/>
                    </a:p>
                  </a:txBody>
                  <a:tcPr>
                    <a:solidFill>
                      <a:srgbClr val="091440"/>
                    </a:solidFill>
                  </a:tcPr>
                </a:tc>
                <a:tc>
                  <a:txBody>
                    <a:bodyPr/>
                    <a:lstStyle/>
                    <a:p>
                      <a:pPr algn="ctr"/>
                      <a:r>
                        <a:rPr lang="en-US" sz="1400" dirty="0"/>
                        <a:t>Calculation</a:t>
                      </a:r>
                      <a:endParaRPr lang="en-AU" sz="1400" dirty="0"/>
                    </a:p>
                  </a:txBody>
                  <a:tcPr>
                    <a:solidFill>
                      <a:srgbClr val="091440"/>
                    </a:solidFill>
                  </a:tcPr>
                </a:tc>
                <a:tc>
                  <a:txBody>
                    <a:bodyPr/>
                    <a:lstStyle/>
                    <a:p>
                      <a:pPr algn="ctr"/>
                      <a:r>
                        <a:rPr lang="en-US" sz="1400" dirty="0"/>
                        <a:t>Naming Convention</a:t>
                      </a:r>
                      <a:endParaRPr lang="en-AU" sz="1400" dirty="0"/>
                    </a:p>
                  </a:txBody>
                  <a:tcPr>
                    <a:solidFill>
                      <a:srgbClr val="091440"/>
                    </a:solidFill>
                  </a:tcPr>
                </a:tc>
                <a:extLst>
                  <a:ext uri="{0D108BD9-81ED-4DB2-BD59-A6C34878D82A}">
                    <a16:rowId xmlns:a16="http://schemas.microsoft.com/office/drawing/2014/main" val="2118214685"/>
                  </a:ext>
                </a:extLst>
              </a:tr>
              <a:tr h="0">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2839142299"/>
                  </a:ext>
                </a:extLst>
              </a:tr>
              <a:tr h="0">
                <a:tc>
                  <a:txBody>
                    <a:bodyPr/>
                    <a:lstStyle/>
                    <a:p>
                      <a:pPr algn="ctr"/>
                      <a:endParaRPr lang="en-AU" sz="1400" b="1"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algn="ctr"/>
                      <a:endParaRPr lang="en-AU" sz="1400" dirty="0">
                        <a:solidFill>
                          <a:srgbClr val="000000"/>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400" dirty="0">
                        <a:solidFill>
                          <a:srgbClr val="000000"/>
                        </a:solidFill>
                      </a:endParaRPr>
                    </a:p>
                  </a:txBody>
                  <a:tcPr anchor="ctr"/>
                </a:tc>
                <a:extLst>
                  <a:ext uri="{0D108BD9-81ED-4DB2-BD59-A6C34878D82A}">
                    <a16:rowId xmlns:a16="http://schemas.microsoft.com/office/drawing/2014/main" val="1124067287"/>
                  </a:ext>
                </a:extLst>
              </a:tr>
              <a:tr h="295881">
                <a:tc>
                  <a:txBody>
                    <a:bodyPr/>
                    <a:lstStyle/>
                    <a:p>
                      <a:pPr algn="ctr"/>
                      <a:endParaRPr lang="en-AU" sz="1400" b="1"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tc>
                  <a:txBody>
                    <a:bodyPr/>
                    <a:lstStyle/>
                    <a:p>
                      <a:pPr algn="ctr"/>
                      <a:endParaRPr lang="en-AU" sz="1400" dirty="0">
                        <a:solidFill>
                          <a:srgbClr val="000000"/>
                        </a:solidFill>
                      </a:endParaRPr>
                    </a:p>
                  </a:txBody>
                  <a:tcPr anchor="ctr">
                    <a:solidFill>
                      <a:srgbClr val="C0CAF6"/>
                    </a:solidFill>
                  </a:tcPr>
                </a:tc>
                <a:extLst>
                  <a:ext uri="{0D108BD9-81ED-4DB2-BD59-A6C34878D82A}">
                    <a16:rowId xmlns:a16="http://schemas.microsoft.com/office/drawing/2014/main" val="1250810511"/>
                  </a:ext>
                </a:extLst>
              </a:tr>
            </a:tbl>
          </a:graphicData>
        </a:graphic>
      </p:graphicFrame>
      <p:sp>
        <p:nvSpPr>
          <p:cNvPr id="5" name="TextBox 4">
            <a:extLst>
              <a:ext uri="{FF2B5EF4-FFF2-40B4-BE49-F238E27FC236}">
                <a16:creationId xmlns:a16="http://schemas.microsoft.com/office/drawing/2014/main" id="{288D54C6-4CB8-4017-9EB3-AAAF6DB85AA4}"/>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rgbClr val="091440"/>
                </a:solidFill>
              </a:rPr>
              <a:t>CHART #07</a:t>
            </a:r>
            <a:endParaRPr lang="en-AU" b="1" dirty="0">
              <a:solidFill>
                <a:srgbClr val="091440"/>
              </a:solidFill>
            </a:endParaRPr>
          </a:p>
        </p:txBody>
      </p:sp>
    </p:spTree>
    <p:extLst>
      <p:ext uri="{BB962C8B-B14F-4D97-AF65-F5344CB8AC3E}">
        <p14:creationId xmlns:p14="http://schemas.microsoft.com/office/powerpoint/2010/main" val="3963045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B092FB-ACF0-424F-BF96-45C529470452}"/>
              </a:ext>
            </a:extLst>
          </p:cNvPr>
          <p:cNvSpPr/>
          <p:nvPr/>
        </p:nvSpPr>
        <p:spPr>
          <a:xfrm>
            <a:off x="0" y="0"/>
            <a:ext cx="11302738" cy="6858000"/>
          </a:xfrm>
          <a:prstGeom prst="rect">
            <a:avLst/>
          </a:prstGeom>
          <a:solidFill>
            <a:srgbClr val="141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7D4AE0D9-7AF5-401B-9A44-FFFFC718E78F}"/>
              </a:ext>
            </a:extLst>
          </p:cNvPr>
          <p:cNvSpPr txBox="1"/>
          <p:nvPr/>
        </p:nvSpPr>
        <p:spPr>
          <a:xfrm>
            <a:off x="4449014" y="-3572"/>
            <a:ext cx="2526384" cy="369332"/>
          </a:xfrm>
          <a:prstGeom prst="rect">
            <a:avLst/>
          </a:prstGeom>
          <a:noFill/>
        </p:spPr>
        <p:txBody>
          <a:bodyPr wrap="square" rtlCol="0">
            <a:spAutoFit/>
          </a:bodyPr>
          <a:lstStyle/>
          <a:p>
            <a:pPr algn="ctr"/>
            <a:r>
              <a:rPr lang="en-US" b="1" dirty="0">
                <a:solidFill>
                  <a:schemeClr val="bg1"/>
                </a:solidFill>
              </a:rPr>
              <a:t>CHART #07</a:t>
            </a:r>
            <a:endParaRPr lang="en-AU" b="1" dirty="0">
              <a:solidFill>
                <a:schemeClr val="bg1"/>
              </a:solidFill>
            </a:endParaRPr>
          </a:p>
        </p:txBody>
      </p:sp>
    </p:spTree>
    <p:extLst>
      <p:ext uri="{BB962C8B-B14F-4D97-AF65-F5344CB8AC3E}">
        <p14:creationId xmlns:p14="http://schemas.microsoft.com/office/powerpoint/2010/main" val="227513318"/>
      </p:ext>
    </p:extLst>
  </p:cSld>
  <p:clrMapOvr>
    <a:masterClrMapping/>
  </p:clrMapOvr>
</p:sld>
</file>

<file path=ppt/theme/theme1.xml><?xml version="1.0" encoding="utf-8"?>
<a:theme xmlns:a="http://schemas.openxmlformats.org/drawingml/2006/main" name="View">
  <a:themeElements>
    <a:clrScheme name="Custom 8">
      <a:dk1>
        <a:srgbClr val="091440"/>
      </a:dk1>
      <a:lt1>
        <a:srgbClr val="FFFFFF"/>
      </a:lt1>
      <a:dk2>
        <a:srgbClr val="091440"/>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566</Words>
  <Application>Microsoft Office PowerPoint</Application>
  <PresentationFormat>Widescreen</PresentationFormat>
  <Paragraphs>136</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Cambria Math</vt:lpstr>
      <vt:lpstr>Century Schoolbook</vt:lpstr>
      <vt:lpstr>Wingdings 2</vt:lpstr>
      <vt:lpstr>View</vt:lpstr>
      <vt:lpstr>Decred Charting Suite</vt:lpstr>
      <vt:lpstr>MVRV Ratio</vt:lpstr>
      <vt:lpstr>PowerPoint Presentation</vt:lpstr>
      <vt:lpstr>Block Subsidy Models (USD)</vt:lpstr>
      <vt:lpstr>PowerPoint Presentation</vt:lpstr>
      <vt:lpstr>Block Subsidy Models (BTC)</vt:lpstr>
      <vt:lpstr>PowerPoint Presentation</vt:lpstr>
      <vt:lpstr>Difficulty Ribbon</vt:lpstr>
      <vt:lpstr>PowerPoint Presentation</vt:lpstr>
      <vt:lpstr>X</vt:lpstr>
      <vt:lpstr>PowerPoint Presentation</vt:lpstr>
      <vt:lpstr>X</vt:lpstr>
      <vt:lpstr>PowerPoint Presentation</vt:lpstr>
      <vt:lpstr>X</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RSC On-Chain Analytics Masterclass  Ep 1 - Realised Capitalisation</dc:title>
  <dc:creator>James Care</dc:creator>
  <cp:lastModifiedBy>James Care</cp:lastModifiedBy>
  <cp:revision>241</cp:revision>
  <dcterms:created xsi:type="dcterms:W3CDTF">2019-05-18T15:28:20Z</dcterms:created>
  <dcterms:modified xsi:type="dcterms:W3CDTF">2020-04-17T08:33:13Z</dcterms:modified>
</cp:coreProperties>
</file>